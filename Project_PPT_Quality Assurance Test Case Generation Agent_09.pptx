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1" r:id="rId2"/>
    <p:sldId id="282" r:id="rId3"/>
    <p:sldId id="256" r:id="rId4"/>
    <p:sldId id="257" r:id="rId5"/>
    <p:sldId id="258" r:id="rId6"/>
    <p:sldId id="283" r:id="rId7"/>
    <p:sldId id="274" r:id="rId8"/>
    <p:sldId id="259" r:id="rId9"/>
    <p:sldId id="280" r:id="rId10"/>
    <p:sldId id="284" r:id="rId11"/>
    <p:sldId id="260" r:id="rId12"/>
    <p:sldId id="269" r:id="rId13"/>
    <p:sldId id="261" r:id="rId14"/>
    <p:sldId id="271" r:id="rId15"/>
    <p:sldId id="275" r:id="rId16"/>
    <p:sldId id="276" r:id="rId17"/>
    <p:sldId id="277" r:id="rId18"/>
    <p:sldId id="278" r:id="rId19"/>
    <p:sldId id="279" r:id="rId20"/>
    <p:sldId id="263" r:id="rId21"/>
    <p:sldId id="264" r:id="rId22"/>
    <p:sldId id="272" r:id="rId23"/>
    <p:sldId id="273" r:id="rId24"/>
    <p:sldId id="26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-2484" y="-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56B24-0A4D-4B7F-8F66-668503105F1D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60AFB-F7F8-4668-8581-F6011CBD0C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D87CAA-5855-43D3-A4EE-64E061A0A8F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60AFB-F7F8-4668-8581-F6011CBD0C90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D132-8B7D-491E-9954-7BE41E679A0E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8860-C2AB-436F-B214-5E229FA58283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B2A1-4A36-4862-86B5-0B1A0E3C9C78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F1C-1110-4D8C-895E-93DE19E42748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7102-D14B-4CBE-80F0-FE5A15EE7E0B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9B7B-FDB4-4793-9E67-5894A83797F7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754B-DC05-4651-B8F7-138B356AF273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F663E-CF89-4A46-891D-39F331F9CAA1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91AFD-778A-4C4B-9BA5-D3A5D435C658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5B4-38A6-4B65-9440-6CF730AE3998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92CA-D515-4124-80F0-814DE928912B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F4607-E3B0-4320-B228-4FE30CAFAE82}" type="datetime1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78629" y="4476757"/>
            <a:ext cx="8001000" cy="19812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i="1" dirty="0"/>
          </a:p>
          <a:p>
            <a:pPr algn="ctr">
              <a:buNone/>
            </a:pPr>
            <a:r>
              <a:rPr lang="en-US" sz="3500" b="1" i="1" dirty="0"/>
              <a:t>Dr. </a:t>
            </a:r>
            <a:r>
              <a:rPr lang="en-US" sz="3500" b="1" i="1" dirty="0" err="1"/>
              <a:t>Vishwanath</a:t>
            </a:r>
            <a:r>
              <a:rPr lang="en-US" sz="3500" b="1" i="1" dirty="0"/>
              <a:t> </a:t>
            </a:r>
            <a:r>
              <a:rPr lang="en-US" sz="3500" b="1" i="1" dirty="0" err="1"/>
              <a:t>Kagawade</a:t>
            </a:r>
            <a:endParaRPr lang="en-US" sz="3500" b="1" i="1" dirty="0"/>
          </a:p>
          <a:p>
            <a:pPr algn="ctr">
              <a:buNone/>
            </a:pPr>
            <a:r>
              <a:rPr lang="en-US" sz="2000" i="1" dirty="0"/>
              <a:t> Associate Professor,  Department of Artificial Intelligence and Machine Learning  </a:t>
            </a:r>
            <a:r>
              <a:rPr lang="en-US" sz="2000" i="1" dirty="0" err="1"/>
              <a:t>Basaveshwar</a:t>
            </a:r>
            <a:r>
              <a:rPr lang="en-US" sz="2000" i="1" dirty="0"/>
              <a:t> Engineering College, </a:t>
            </a:r>
            <a:r>
              <a:rPr lang="en-US" sz="2000" i="1" dirty="0" err="1"/>
              <a:t>Bagalkote</a:t>
            </a:r>
            <a:r>
              <a:rPr lang="en-US" sz="2000" i="1" dirty="0"/>
              <a:t>, Karnataka, India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9524" y="2676264"/>
            <a:ext cx="382869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39" tIns="45720" rIns="91439" bIns="45720" rtlCol="0">
            <a:spAutoFit/>
          </a:bodyPr>
          <a:lstStyle/>
          <a:p>
            <a:r>
              <a:rPr lang="en-US" sz="2800" b="1" dirty="0" smtClean="0"/>
              <a:t>CAPSTONE PROJECT - 09</a:t>
            </a:r>
            <a:endParaRPr lang="en-US" sz="2800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483079" y="3679103"/>
            <a:ext cx="8307238" cy="7976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ts val="551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/>
              <a:t>Quality Assurance Test Case Generation Agent</a:t>
            </a:r>
            <a:endParaRPr lang="en-US" sz="3200" spc="-138" dirty="0">
              <a:solidFill>
                <a:srgbClr val="050A30"/>
              </a:solidFill>
              <a:latin typeface="Shrikhand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43175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320506" y="222291"/>
            <a:ext cx="3019246" cy="11211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1206" tIns="25603" rIns="51206" bIns="25603"/>
          <a:lstStyle/>
          <a:p>
            <a:pPr algn="ctr">
              <a:lnSpc>
                <a:spcPts val="3691"/>
              </a:lnSpc>
              <a:spcBef>
                <a:spcPct val="0"/>
              </a:spcBef>
              <a:defRPr/>
            </a:pPr>
            <a:endParaRPr lang="en-US" altLang="en-US" sz="6600" b="1" dirty="0" smtClean="0">
              <a:latin typeface="Agency FB" pitchFamily="34" charset="0"/>
            </a:endParaRPr>
          </a:p>
          <a:p>
            <a:pPr algn="ctr">
              <a:lnSpc>
                <a:spcPts val="3691"/>
              </a:lnSpc>
              <a:spcBef>
                <a:spcPct val="0"/>
              </a:spcBef>
              <a:defRPr/>
            </a:pPr>
            <a:r>
              <a:rPr lang="en-US" altLang="en-US" sz="6600" b="1" dirty="0" smtClean="0">
                <a:latin typeface="Agency FB" pitchFamily="34" charset="0"/>
              </a:rPr>
              <a:t>Agenda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65826" y="1854679"/>
            <a:ext cx="8074325" cy="4744529"/>
          </a:xfrm>
          <a:prstGeom prst="rect">
            <a:avLst/>
          </a:prstGeom>
        </p:spPr>
        <p:txBody>
          <a:bodyPr lIns="51206" tIns="25603" rIns="51206" bIns="25603"/>
          <a:lstStyle/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Project business statement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Motivation/business need for the project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High level approach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Technical approach – architecture flow diagram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Technical approach – tech stack used and rationale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High-level code explanation (not exceeding one page)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Final input-output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Project ESG (environment sustainable growth factor)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Overall learning and way forward.</a:t>
            </a:r>
          </a:p>
          <a:p>
            <a:pPr marL="457200" indent="-457200" defTabSz="512064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en-US" sz="2400" dirty="0" smtClean="0"/>
              <a:t>Actual time spent on entire project (in hrs.) – Phase wise time spent</a:t>
            </a:r>
          </a:p>
          <a:p>
            <a:pPr marL="192024" indent="-192024" defTabSz="512064">
              <a:spcBef>
                <a:spcPct val="20000"/>
              </a:spcBef>
              <a:defRPr/>
            </a:pPr>
            <a:endParaRPr lang="en-US" altLang="en-US" sz="2000" dirty="0">
              <a:latin typeface="Algerian" pitchFamily="82" charset="0"/>
            </a:endParaRPr>
          </a:p>
        </p:txBody>
      </p:sp>
      <p:sp>
        <p:nvSpPr>
          <p:cNvPr id="5" name="Freeform 2"/>
          <p:cNvSpPr/>
          <p:nvPr/>
        </p:nvSpPr>
        <p:spPr>
          <a:xfrm rot="-4846624">
            <a:off x="7614245" y="374829"/>
            <a:ext cx="1322238" cy="1190950"/>
          </a:xfrm>
          <a:custGeom>
            <a:avLst/>
            <a:gdLst/>
            <a:ahLst/>
            <a:cxnLst/>
            <a:rect l="l" t="t" r="r" b="b"/>
            <a:pathLst>
              <a:path w="3941787" h="3246599">
                <a:moveTo>
                  <a:pt x="0" y="0"/>
                </a:moveTo>
                <a:lnTo>
                  <a:pt x="3941787" y="0"/>
                </a:lnTo>
                <a:lnTo>
                  <a:pt x="3941787" y="3246599"/>
                </a:lnTo>
                <a:lnTo>
                  <a:pt x="0" y="3246599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spd="med"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8030" y="491706"/>
            <a:ext cx="6064370" cy="70164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1. </a:t>
            </a:r>
            <a:r>
              <a:rPr b="1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Project </a:t>
            </a:r>
            <a:r>
              <a:rPr b="1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Business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47500" lnSpcReduction="20000"/>
          </a:bodyPr>
          <a:lstStyle/>
          <a:p>
            <a:pPr algn="just">
              <a:buNone/>
            </a:pPr>
            <a:r>
              <a:rPr sz="4200" b="1">
                <a:solidFill>
                  <a:srgbClr val="7030A0"/>
                </a:solidFill>
              </a:rPr>
              <a:t>Objective:</a:t>
            </a:r>
          </a:p>
          <a:p>
            <a:pPr algn="just">
              <a:buNone/>
            </a:pPr>
            <a:r>
              <a:rPr lang="en-US" dirty="0" smtClean="0"/>
              <a:t>To develop a </a:t>
            </a:r>
            <a:r>
              <a:rPr lang="en-US" b="1" dirty="0" smtClean="0"/>
              <a:t>sustainable, AI-driven QA framework</a:t>
            </a:r>
            <a:r>
              <a:rPr lang="en-US" dirty="0" smtClean="0"/>
              <a:t> that enhances productivity, reduces manual testing workload, and contributes toward environmentally conscious software </a:t>
            </a:r>
            <a:r>
              <a:rPr lang="en-US" dirty="0" smtClean="0"/>
              <a:t>development — </a:t>
            </a:r>
            <a:r>
              <a:rPr lang="en-US" dirty="0" smtClean="0"/>
              <a:t>embodying the core principles of ESG in the field of software engineering.</a:t>
            </a:r>
          </a:p>
          <a:p>
            <a:pPr algn="just"/>
            <a:endParaRPr/>
          </a:p>
          <a:p>
            <a:pPr algn="just">
              <a:buNone/>
            </a:pPr>
            <a:r>
              <a:rPr sz="4200" b="1">
                <a:solidFill>
                  <a:srgbClr val="7030A0"/>
                </a:solidFill>
              </a:rPr>
              <a:t>Business Context:</a:t>
            </a:r>
          </a:p>
          <a:p>
            <a:pPr algn="just"/>
            <a:r>
              <a:rPr lang="en-US" dirty="0" smtClean="0"/>
              <a:t>The </a:t>
            </a:r>
            <a:r>
              <a:rPr lang="en-US" b="1" dirty="0" smtClean="0"/>
              <a:t>Industry-Ready Quality Assurance Test Case Generation Agent</a:t>
            </a:r>
            <a:r>
              <a:rPr lang="en-US" dirty="0" smtClean="0"/>
              <a:t> is an </a:t>
            </a:r>
            <a:r>
              <a:rPr lang="en-US" b="1" dirty="0" smtClean="0"/>
              <a:t>AI-driven automation framework</a:t>
            </a:r>
            <a:r>
              <a:rPr lang="en-US" dirty="0" smtClean="0"/>
              <a:t> that streamlines the test case creation process from raw application requirements and user stories. Traditional manual test design is often </a:t>
            </a:r>
            <a:r>
              <a:rPr lang="en-US" b="1" dirty="0" smtClean="0"/>
              <a:t>time-intensive</a:t>
            </a:r>
            <a:r>
              <a:rPr lang="en-US" dirty="0" smtClean="0"/>
              <a:t>, </a:t>
            </a:r>
            <a:r>
              <a:rPr lang="en-US" b="1" dirty="0" smtClean="0"/>
              <a:t>error-prone</a:t>
            </a:r>
            <a:r>
              <a:rPr lang="en-US" dirty="0" smtClean="0"/>
              <a:t>, and </a:t>
            </a:r>
            <a:r>
              <a:rPr lang="en-US" b="1" dirty="0" smtClean="0"/>
              <a:t>inconsistent</a:t>
            </a:r>
            <a:r>
              <a:rPr lang="en-US" dirty="0" smtClean="0"/>
              <a:t>, leading to delays in product validation cycles. This project addresses these challenges through intelligent automation powered by </a:t>
            </a:r>
            <a:r>
              <a:rPr lang="en-US" b="1" dirty="0" smtClean="0"/>
              <a:t>Large Language Models (LLMs)</a:t>
            </a:r>
            <a:r>
              <a:rPr lang="en-US" dirty="0" smtClean="0"/>
              <a:t> and </a:t>
            </a:r>
            <a:r>
              <a:rPr lang="en-US" b="1" dirty="0" smtClean="0"/>
              <a:t>context-aware rule-based reasoning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system interprets natural language requirements, classifies them into </a:t>
            </a:r>
            <a:r>
              <a:rPr lang="en-US" b="1" dirty="0" smtClean="0"/>
              <a:t>Functional</a:t>
            </a:r>
            <a:r>
              <a:rPr lang="en-US" dirty="0" smtClean="0"/>
              <a:t>, </a:t>
            </a:r>
            <a:r>
              <a:rPr lang="en-US" b="1" dirty="0" smtClean="0"/>
              <a:t>Non-Functional</a:t>
            </a:r>
            <a:r>
              <a:rPr lang="en-US" dirty="0" smtClean="0"/>
              <a:t>, or </a:t>
            </a:r>
            <a:r>
              <a:rPr lang="en-US" b="1" dirty="0" smtClean="0"/>
              <a:t>Negative</a:t>
            </a:r>
            <a:r>
              <a:rPr lang="en-US" dirty="0" smtClean="0"/>
              <a:t> types using </a:t>
            </a:r>
            <a:r>
              <a:rPr lang="en-US" b="1" dirty="0" smtClean="0"/>
              <a:t>Canonical Type Classification</a:t>
            </a:r>
            <a:r>
              <a:rPr lang="en-US" dirty="0" smtClean="0"/>
              <a:t>, and automatically generates comprehensive test </a:t>
            </a:r>
            <a:r>
              <a:rPr lang="en-US" dirty="0" smtClean="0"/>
              <a:t>artifacts—including </a:t>
            </a:r>
            <a:r>
              <a:rPr lang="en-US" b="1" dirty="0" smtClean="0"/>
              <a:t>preconditions, test steps, and expected results</a:t>
            </a:r>
            <a:r>
              <a:rPr lang="en-US" dirty="0" smtClean="0"/>
              <a:t>—using a </a:t>
            </a:r>
            <a:r>
              <a:rPr lang="en-US" b="1" dirty="0" smtClean="0"/>
              <a:t>Generic Context-Aware Preconditions Engine</a:t>
            </a:r>
            <a:r>
              <a:rPr lang="en-US" dirty="0" smtClean="0"/>
              <a:t>. A built-in </a:t>
            </a:r>
            <a:r>
              <a:rPr lang="en-US" b="1" dirty="0" smtClean="0"/>
              <a:t>Coverage Dashboard</a:t>
            </a:r>
            <a:r>
              <a:rPr lang="en-US" dirty="0" smtClean="0"/>
              <a:t> provides interactive insights, tracking test completeness and requirement coverage through visual </a:t>
            </a:r>
            <a:r>
              <a:rPr lang="en-US" dirty="0" err="1" smtClean="0"/>
              <a:t>heatmaps</a:t>
            </a:r>
            <a:r>
              <a:rPr lang="en-US" dirty="0" smtClean="0"/>
              <a:t> and summary metrics.</a:t>
            </a:r>
          </a:p>
          <a:p>
            <a:pPr algn="just"/>
            <a:r>
              <a:rPr lang="en-US" dirty="0" smtClean="0"/>
              <a:t>By integrating AI-driven interpretation with structured QA workflows, this project significantly </a:t>
            </a:r>
            <a:r>
              <a:rPr lang="en-US" b="1" dirty="0" smtClean="0"/>
              <a:t>reduces manual effort</a:t>
            </a:r>
            <a:r>
              <a:rPr lang="en-US" dirty="0" smtClean="0"/>
              <a:t>, </a:t>
            </a:r>
            <a:r>
              <a:rPr lang="en-US" b="1" dirty="0" smtClean="0"/>
              <a:t>improves consistency and coverage</a:t>
            </a:r>
            <a:r>
              <a:rPr lang="en-US" dirty="0" smtClean="0"/>
              <a:t>, and </a:t>
            </a:r>
            <a:r>
              <a:rPr lang="en-US" b="1" dirty="0" smtClean="0"/>
              <a:t>enhances productivity</a:t>
            </a:r>
            <a:r>
              <a:rPr lang="en-US" dirty="0" smtClean="0"/>
              <a:t> across quality assurance teams. It represents a </a:t>
            </a:r>
            <a:r>
              <a:rPr lang="en-US" b="1" dirty="0" smtClean="0"/>
              <a:t>sustainable, industry-ready solution</a:t>
            </a:r>
            <a:r>
              <a:rPr lang="en-US" dirty="0" smtClean="0"/>
              <a:t> for accelerating software testing processes while maintaining high quality and reliability standards.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962" y="500332"/>
            <a:ext cx="7392838" cy="91730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2. </a:t>
            </a:r>
            <a:r>
              <a:rPr sz="4000" b="1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Motivation </a:t>
            </a:r>
            <a:r>
              <a:rPr sz="4000" b="1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/ Business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5395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dirty="0" smtClean="0"/>
              <a:t>In today’s fast-paced software development environment, </a:t>
            </a:r>
            <a:r>
              <a:rPr lang="en-US" b="1" dirty="0" smtClean="0"/>
              <a:t>Quality Assurance (QA)</a:t>
            </a:r>
            <a:r>
              <a:rPr lang="en-US" dirty="0" smtClean="0"/>
              <a:t> teams face increasing pressure to deliver reliable products under tight timelines. Traditional manual test case creation is </a:t>
            </a:r>
            <a:r>
              <a:rPr lang="en-US" b="1" dirty="0" smtClean="0"/>
              <a:t>labor-intensive</a:t>
            </a:r>
            <a:r>
              <a:rPr lang="en-US" dirty="0" smtClean="0"/>
              <a:t>, </a:t>
            </a:r>
            <a:r>
              <a:rPr lang="en-US" b="1" dirty="0" smtClean="0"/>
              <a:t>inconsistent</a:t>
            </a:r>
            <a:r>
              <a:rPr lang="en-US" dirty="0" smtClean="0"/>
              <a:t>, and </a:t>
            </a:r>
            <a:r>
              <a:rPr lang="en-US" b="1" dirty="0" smtClean="0"/>
              <a:t>prone to human oversight</a:t>
            </a:r>
            <a:r>
              <a:rPr lang="en-US" dirty="0" smtClean="0"/>
              <a:t>, often leading to missed scenarios and delayed releases.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As applications evolve rapidly with frequent updates and agile workflows, organizations require a </a:t>
            </a:r>
            <a:r>
              <a:rPr lang="en-US" b="1" dirty="0" smtClean="0"/>
              <a:t>scalable, intelligent, and automated approach</a:t>
            </a:r>
            <a:r>
              <a:rPr lang="en-US" dirty="0" smtClean="0"/>
              <a:t> to maintain test quality and coverage. The need for </a:t>
            </a:r>
            <a:r>
              <a:rPr lang="en-US" b="1" dirty="0" smtClean="0"/>
              <a:t>context-aware, AI-assisted test case generation</a:t>
            </a:r>
            <a:r>
              <a:rPr lang="en-US" dirty="0" smtClean="0"/>
              <a:t> arises from the growing demand to:</a:t>
            </a:r>
          </a:p>
          <a:p>
            <a:pPr lvl="1" algn="just"/>
            <a:r>
              <a:rPr lang="en-US" dirty="0" smtClean="0"/>
              <a:t>Reduce manual effort and repetitive QA tasks.</a:t>
            </a:r>
          </a:p>
          <a:p>
            <a:pPr lvl="1" algn="just"/>
            <a:r>
              <a:rPr lang="en-US" dirty="0" smtClean="0"/>
              <a:t>Improve accuracy and coverage in testing requirements.</a:t>
            </a:r>
          </a:p>
          <a:p>
            <a:pPr lvl="1" algn="just"/>
            <a:r>
              <a:rPr lang="en-US" dirty="0" smtClean="0"/>
              <a:t>Accelerate the software validation lifecycle.</a:t>
            </a:r>
          </a:p>
          <a:p>
            <a:pPr lvl="1" algn="just"/>
            <a:r>
              <a:rPr lang="en-US" dirty="0" smtClean="0"/>
              <a:t>Ensure consistency and traceability across large-scale test repositories.</a:t>
            </a:r>
          </a:p>
          <a:p>
            <a:pPr lvl="1" algn="just"/>
            <a:r>
              <a:rPr lang="en-US" dirty="0" smtClean="0"/>
              <a:t>Align with modern </a:t>
            </a:r>
            <a:r>
              <a:rPr lang="en-US" dirty="0" err="1" smtClean="0"/>
              <a:t>DevOps</a:t>
            </a:r>
            <a:r>
              <a:rPr lang="en-US" dirty="0" smtClean="0"/>
              <a:t> and CI/CD practices for continuous quality.</a:t>
            </a:r>
          </a:p>
          <a:p>
            <a:pPr lvl="1" algn="just"/>
            <a:endParaRPr lang="en-US" dirty="0" smtClean="0"/>
          </a:p>
          <a:p>
            <a:pPr algn="just"/>
            <a:r>
              <a:rPr lang="en-US" dirty="0" smtClean="0"/>
              <a:t>This project fulfills that business need by leveraging </a:t>
            </a:r>
            <a:r>
              <a:rPr lang="en-US" b="1" dirty="0" smtClean="0"/>
              <a:t>AI and Natural Language Processing (NLP)</a:t>
            </a:r>
            <a:r>
              <a:rPr lang="en-US" dirty="0" smtClean="0"/>
              <a:t> to automatically interpret requirements, generate structured test cases, and provide coverage insights—making the QA process </a:t>
            </a:r>
            <a:r>
              <a:rPr lang="en-US" b="1" dirty="0" smtClean="0"/>
              <a:t>smarter, faster, and more sustainable</a:t>
            </a:r>
            <a:r>
              <a:rPr lang="en-US" dirty="0" smtClean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711"/>
            <a:ext cx="8229600" cy="83244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3. High-Level Approach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1052"/>
            <a:ext cx="8522898" cy="57451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/>
              <a:t>1. Requirement Gathering and Input Processing</a:t>
            </a:r>
          </a:p>
          <a:p>
            <a:pPr>
              <a:buNone/>
            </a:pPr>
            <a:r>
              <a:rPr lang="en-US" sz="1800" dirty="0" smtClean="0"/>
              <a:t>Collect user requirements either through </a:t>
            </a:r>
            <a:r>
              <a:rPr lang="en-US" sz="1800" b="1" dirty="0" smtClean="0"/>
              <a:t>manual input</a:t>
            </a:r>
            <a:r>
              <a:rPr lang="en-US" sz="1800" dirty="0" smtClean="0"/>
              <a:t> or </a:t>
            </a:r>
            <a:r>
              <a:rPr lang="en-US" sz="1800" b="1" dirty="0" smtClean="0"/>
              <a:t>CSV upload</a:t>
            </a:r>
            <a:r>
              <a:rPr lang="en-US" sz="1800" dirty="0" smtClean="0"/>
              <a:t> in the </a:t>
            </a:r>
            <a:r>
              <a:rPr lang="en-US" sz="1800" dirty="0" err="1" smtClean="0"/>
              <a:t>Streamlit</a:t>
            </a:r>
            <a:r>
              <a:rPr lang="en-US" sz="1800" dirty="0" smtClean="0"/>
              <a:t> app.</a:t>
            </a:r>
          </a:p>
          <a:p>
            <a:pPr>
              <a:buNone/>
            </a:pPr>
            <a:r>
              <a:rPr lang="en-US" sz="1800" dirty="0" smtClean="0"/>
              <a:t>Preprocess and standardize requirement statements to ensure clarity and uniform structure.</a:t>
            </a:r>
          </a:p>
          <a:p>
            <a:pPr>
              <a:buNone/>
            </a:pPr>
            <a:r>
              <a:rPr lang="en-US" sz="1800" b="1" dirty="0" smtClean="0"/>
              <a:t>2. AI-Powered Requirement Classification</a:t>
            </a:r>
          </a:p>
          <a:p>
            <a:pPr>
              <a:buNone/>
            </a:pPr>
            <a:r>
              <a:rPr lang="en-US" sz="1800" dirty="0" smtClean="0"/>
              <a:t>Use NLP-based keyword and context analysis to classify requirements into:</a:t>
            </a:r>
          </a:p>
          <a:p>
            <a:pPr lvl="1">
              <a:buNone/>
            </a:pPr>
            <a:r>
              <a:rPr lang="en-US" sz="1800" dirty="0" smtClean="0"/>
              <a:t>✅ </a:t>
            </a:r>
            <a:r>
              <a:rPr lang="en-US" sz="1800" b="1" dirty="0" smtClean="0"/>
              <a:t>Functional</a:t>
            </a:r>
            <a:r>
              <a:rPr lang="en-US" sz="1800" dirty="0" smtClean="0"/>
              <a:t> — System behavior and features.</a:t>
            </a:r>
          </a:p>
          <a:p>
            <a:pPr lvl="1">
              <a:buNone/>
            </a:pPr>
            <a:r>
              <a:rPr lang="en-US" sz="1800" dirty="0" smtClean="0"/>
              <a:t>🔒 </a:t>
            </a:r>
            <a:r>
              <a:rPr lang="en-US" sz="1800" b="1" dirty="0" smtClean="0"/>
              <a:t>Non-Functional</a:t>
            </a:r>
            <a:r>
              <a:rPr lang="en-US" sz="1800" dirty="0" smtClean="0"/>
              <a:t> — Performance, security, and scalability aspects.</a:t>
            </a:r>
          </a:p>
          <a:p>
            <a:pPr lvl="1">
              <a:buNone/>
            </a:pPr>
            <a:r>
              <a:rPr lang="en-US" sz="1800" dirty="0" smtClean="0"/>
              <a:t>❌ </a:t>
            </a:r>
            <a:r>
              <a:rPr lang="en-US" sz="1800" b="1" dirty="0" smtClean="0"/>
              <a:t>Negative</a:t>
            </a:r>
            <a:r>
              <a:rPr lang="en-US" sz="1800" dirty="0" smtClean="0"/>
              <a:t> — Error handling, invalid data, and failure scenarios.</a:t>
            </a:r>
          </a:p>
          <a:p>
            <a:pPr>
              <a:buNone/>
            </a:pPr>
            <a:r>
              <a:rPr lang="en-US" sz="1800" dirty="0" smtClean="0"/>
              <a:t>Ensures comprehensive test coverage across all categories.</a:t>
            </a:r>
          </a:p>
          <a:p>
            <a:pPr>
              <a:buNone/>
            </a:pPr>
            <a:r>
              <a:rPr lang="en-US" sz="1800" b="1" dirty="0" smtClean="0"/>
              <a:t>3. Context-Aware Test Case Generation</a:t>
            </a:r>
          </a:p>
          <a:p>
            <a:pPr>
              <a:buNone/>
            </a:pPr>
            <a:r>
              <a:rPr lang="en-US" sz="1800" dirty="0" smtClean="0"/>
              <a:t>Generate structured test case components automatically:</a:t>
            </a:r>
          </a:p>
          <a:p>
            <a:pPr lvl="1">
              <a:buNone/>
            </a:pPr>
            <a:r>
              <a:rPr lang="en-US" sz="1800" b="1" dirty="0" smtClean="0"/>
              <a:t>Description</a:t>
            </a:r>
            <a:r>
              <a:rPr lang="en-US" sz="1800" dirty="0" smtClean="0"/>
              <a:t> – Defines what to test.</a:t>
            </a:r>
          </a:p>
          <a:p>
            <a:pPr lvl="1">
              <a:buNone/>
            </a:pPr>
            <a:r>
              <a:rPr lang="en-US" sz="1800" b="1" dirty="0" smtClean="0"/>
              <a:t>Preconditions</a:t>
            </a:r>
            <a:r>
              <a:rPr lang="en-US" sz="1800" dirty="0" smtClean="0"/>
              <a:t> – Establish required system states.</a:t>
            </a:r>
          </a:p>
          <a:p>
            <a:pPr lvl="1">
              <a:buNone/>
            </a:pPr>
            <a:r>
              <a:rPr lang="en-US" sz="1800" b="1" dirty="0" smtClean="0"/>
              <a:t>Test Steps</a:t>
            </a:r>
            <a:r>
              <a:rPr lang="en-US" sz="1800" dirty="0" smtClean="0"/>
              <a:t> – Step-by-step procedure for execution.</a:t>
            </a:r>
          </a:p>
          <a:p>
            <a:pPr lvl="1">
              <a:buNone/>
            </a:pPr>
            <a:r>
              <a:rPr lang="en-US" sz="1800" b="1" dirty="0" smtClean="0"/>
              <a:t>Expected Results</a:t>
            </a:r>
            <a:r>
              <a:rPr lang="en-US" sz="1800" dirty="0" smtClean="0"/>
              <a:t> – Defines the success criteria.</a:t>
            </a:r>
          </a:p>
          <a:p>
            <a:pPr>
              <a:buNone/>
            </a:pPr>
            <a:r>
              <a:rPr lang="en-US" sz="1800" dirty="0" smtClean="0"/>
              <a:t>Leverages AI and rule-based logic to infer realistic conditions.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169" y="274638"/>
            <a:ext cx="3079631" cy="65701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sz="2000">
                <a:solidFill>
                  <a:schemeClr val="accent6">
                    <a:lumMod val="75000"/>
                  </a:schemeClr>
                </a:solidFill>
              </a:rPr>
              <a:t>High-Level </a:t>
            </a:r>
            <a:r>
              <a:rPr sz="2000" smtClean="0">
                <a:solidFill>
                  <a:schemeClr val="accent6">
                    <a:lumMod val="75000"/>
                  </a:schemeClr>
                </a:solidFill>
              </a:rPr>
              <a:t>Approach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 cont..</a:t>
            </a:r>
            <a:endParaRPr sz="20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28468"/>
            <a:ext cx="8229600" cy="4477109"/>
          </a:xfrm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en-US" sz="6200" b="1" dirty="0" smtClean="0"/>
              <a:t>4. </a:t>
            </a:r>
            <a:r>
              <a:rPr lang="en-US" sz="7200" b="1" dirty="0" smtClean="0"/>
              <a:t>Visualization and Analysis</a:t>
            </a:r>
          </a:p>
          <a:p>
            <a:pPr algn="just">
              <a:buNone/>
            </a:pPr>
            <a:r>
              <a:rPr lang="en-US" sz="7200" dirty="0" smtClean="0"/>
              <a:t>Compute summary metrics for each requirement (coverage %).</a:t>
            </a:r>
          </a:p>
          <a:p>
            <a:pPr algn="just">
              <a:buNone/>
            </a:pPr>
            <a:r>
              <a:rPr lang="en-US" sz="7200" dirty="0" smtClean="0"/>
              <a:t>Display insights using a </a:t>
            </a:r>
            <a:r>
              <a:rPr lang="en-US" sz="7200" b="1" dirty="0" smtClean="0"/>
              <a:t>visual dashboard</a:t>
            </a:r>
            <a:r>
              <a:rPr lang="en-US" sz="7200" dirty="0" smtClean="0"/>
              <a:t> with:</a:t>
            </a:r>
          </a:p>
          <a:p>
            <a:pPr lvl="1" algn="just">
              <a:buNone/>
            </a:pPr>
            <a:r>
              <a:rPr lang="en-US" sz="7200" dirty="0" err="1" smtClean="0"/>
              <a:t>Heatmaps</a:t>
            </a:r>
            <a:r>
              <a:rPr lang="en-US" sz="7200" dirty="0" smtClean="0"/>
              <a:t> of coverage per requirement.</a:t>
            </a:r>
          </a:p>
          <a:p>
            <a:pPr lvl="1" algn="just">
              <a:buNone/>
            </a:pPr>
            <a:r>
              <a:rPr lang="en-US" sz="7200" dirty="0" smtClean="0"/>
              <a:t>Distribution of Functional / Non-Functional / Negative cases.</a:t>
            </a:r>
          </a:p>
          <a:p>
            <a:pPr algn="just">
              <a:buNone/>
            </a:pPr>
            <a:r>
              <a:rPr lang="en-US" sz="7200" dirty="0" smtClean="0"/>
              <a:t>Helps QA teams analyze quality coverage and identify missing scenarios.</a:t>
            </a:r>
          </a:p>
          <a:p>
            <a:pPr algn="just">
              <a:buNone/>
            </a:pPr>
            <a:endParaRPr lang="en-US" sz="7200" dirty="0" smtClean="0"/>
          </a:p>
          <a:p>
            <a:pPr algn="just">
              <a:buNone/>
            </a:pPr>
            <a:r>
              <a:rPr lang="en-US" sz="7200" b="1" dirty="0" smtClean="0"/>
              <a:t>5. Export and Documentation</a:t>
            </a:r>
          </a:p>
          <a:p>
            <a:pPr algn="just">
              <a:buNone/>
            </a:pPr>
            <a:r>
              <a:rPr lang="en-US" sz="7200" dirty="0" smtClean="0"/>
              <a:t>Allow one-click export to </a:t>
            </a:r>
            <a:r>
              <a:rPr lang="en-US" sz="7200" b="1" dirty="0" smtClean="0"/>
              <a:t>CSV/Excel</a:t>
            </a:r>
            <a:r>
              <a:rPr lang="en-US" sz="7200" dirty="0" smtClean="0"/>
              <a:t> for integration with QA workflows.</a:t>
            </a:r>
          </a:p>
          <a:p>
            <a:pPr algn="just">
              <a:buNone/>
            </a:pPr>
            <a:r>
              <a:rPr lang="en-US" sz="7200" dirty="0" smtClean="0"/>
              <a:t>Provide versioned test case documentation for auditing and traceability.</a:t>
            </a:r>
          </a:p>
          <a:p>
            <a:pPr algn="just">
              <a:buNone/>
            </a:pPr>
            <a:endParaRPr lang="en-US" sz="7200" dirty="0" smtClean="0"/>
          </a:p>
          <a:p>
            <a:pPr algn="just">
              <a:buNone/>
            </a:pPr>
            <a:r>
              <a:rPr lang="en-US" sz="7200" b="1" dirty="0" smtClean="0"/>
              <a:t>6. Automation and Continuous Improvement</a:t>
            </a:r>
          </a:p>
          <a:p>
            <a:pPr algn="just">
              <a:buNone/>
            </a:pPr>
            <a:r>
              <a:rPr lang="en-US" sz="7200" dirty="0" smtClean="0"/>
              <a:t>System designed for iterative enhancement through AI feedback loops.</a:t>
            </a:r>
          </a:p>
          <a:p>
            <a:pPr algn="just">
              <a:buNone/>
            </a:pPr>
            <a:r>
              <a:rPr lang="en-US" sz="7200" dirty="0" smtClean="0"/>
              <a:t>Future updates can incorporate </a:t>
            </a:r>
            <a:r>
              <a:rPr lang="en-US" sz="7200" b="1" dirty="0" smtClean="0"/>
              <a:t>self-learning mechanisms</a:t>
            </a:r>
            <a:r>
              <a:rPr lang="en-US" sz="7200" dirty="0" smtClean="0"/>
              <a:t> and </a:t>
            </a:r>
            <a:r>
              <a:rPr lang="en-US" sz="7200" b="1" dirty="0" smtClean="0"/>
              <a:t>integration with enterprise QA tools</a:t>
            </a:r>
            <a:r>
              <a:rPr lang="en-US" sz="7200" dirty="0" smtClean="0"/>
              <a:t> (e.g., JIRA, </a:t>
            </a:r>
            <a:r>
              <a:rPr lang="en-US" sz="7200" dirty="0" err="1" smtClean="0"/>
              <a:t>TestRail</a:t>
            </a:r>
            <a:r>
              <a:rPr lang="en-US" sz="7200" dirty="0" smtClean="0"/>
              <a:t>).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6634" cy="11430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4. Technical Approach – Architecture Flow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00330" y="1501001"/>
          <a:ext cx="8229600" cy="5217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196"/>
                <a:gridCol w="2398144"/>
                <a:gridCol w="3873260"/>
              </a:tblGrid>
              <a:tr h="3665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Input Layer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Streamlit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Captures manual or uploaded requirements.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CSV Reader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Loads requirements from structured files.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Processing Layer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Requirement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Detects Functional / Non-Functional / Negative intent.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Preconditions Generator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Context-based reasoning using keyword mapping.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Test Case Auto-Filler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Generates all fields (Description, Steps, Expected Result).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Negative Case Handler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Ensures presence of invalid input tests.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Output Layer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Dashboard Visualizer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Displays </a:t>
                      </a:r>
                      <a:r>
                        <a:rPr lang="en-US" dirty="0" err="1"/>
                        <a:t>heatmap</a:t>
                      </a:r>
                      <a:r>
                        <a:rPr lang="en-US" dirty="0"/>
                        <a:t> and statistics using </a:t>
                      </a:r>
                      <a:r>
                        <a:rPr lang="en-US" dirty="0" err="1"/>
                        <a:t>Seaborn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Matplotlib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Export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Saves structured test cases in CSV and Excel formats.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 descr="C:\Users\Admin\Downloads\WhatsApp Image 2025-10-14 at 5.15.20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8431" y="527538"/>
            <a:ext cx="5533292" cy="6193937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99292" y="2074985"/>
            <a:ext cx="2344616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Architecture Flow Of  Quality Assurance Test Case Generation Agent</a:t>
            </a:r>
            <a:endParaRPr lang="en-US" sz="28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99139" y="49648"/>
            <a:ext cx="5244861" cy="29541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Technical Approach – Architecture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Flow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cnt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5058"/>
            <a:ext cx="8460540" cy="6512942"/>
          </a:xfrm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en-US" sz="7200" dirty="0" smtClean="0"/>
              <a:t>The </a:t>
            </a:r>
            <a:r>
              <a:rPr lang="en-US" sz="7200" b="1" dirty="0" smtClean="0"/>
              <a:t>Industry-Ready Quality Assurance Test Case Generation Agent</a:t>
            </a:r>
            <a:r>
              <a:rPr lang="en-US" sz="7200" dirty="0" smtClean="0"/>
              <a:t> follows a modular </a:t>
            </a:r>
            <a:r>
              <a:rPr lang="en-US" sz="7200" b="1" dirty="0" smtClean="0"/>
              <a:t>AI-driven architecture</a:t>
            </a:r>
            <a:r>
              <a:rPr lang="en-US" sz="7200" dirty="0" smtClean="0"/>
              <a:t> that combines </a:t>
            </a:r>
            <a:r>
              <a:rPr lang="en-US" sz="7200" b="1" dirty="0" smtClean="0"/>
              <a:t>requirement interpretation</a:t>
            </a:r>
            <a:r>
              <a:rPr lang="en-US" sz="7200" dirty="0" smtClean="0"/>
              <a:t>, </a:t>
            </a:r>
            <a:r>
              <a:rPr lang="en-US" sz="7200" b="1" dirty="0" smtClean="0"/>
              <a:t>intelligent classification</a:t>
            </a:r>
            <a:r>
              <a:rPr lang="en-US" sz="7200" dirty="0" smtClean="0"/>
              <a:t>, and </a:t>
            </a:r>
            <a:r>
              <a:rPr lang="en-US" sz="7200" b="1" dirty="0" smtClean="0"/>
              <a:t>automated test generation</a:t>
            </a:r>
            <a:r>
              <a:rPr lang="en-US" sz="7200" dirty="0" smtClean="0"/>
              <a:t> with </a:t>
            </a:r>
            <a:r>
              <a:rPr lang="en-US" sz="7200" b="1" dirty="0" smtClean="0"/>
              <a:t>interactive visualization and reporting</a:t>
            </a:r>
            <a:r>
              <a:rPr lang="en-US" sz="7200" dirty="0" smtClean="0"/>
              <a:t>.</a:t>
            </a:r>
          </a:p>
          <a:p>
            <a:pPr algn="just">
              <a:buNone/>
            </a:pPr>
            <a:endParaRPr lang="en-US" sz="7200" dirty="0" smtClean="0"/>
          </a:p>
          <a:p>
            <a:pPr algn="just">
              <a:buNone/>
            </a:pPr>
            <a:r>
              <a:rPr lang="en-US" sz="7200" b="1" dirty="0" smtClean="0"/>
              <a:t>1. Input Acquisition Layer</a:t>
            </a:r>
          </a:p>
          <a:p>
            <a:pPr algn="just">
              <a:buNone/>
            </a:pPr>
            <a:r>
              <a:rPr lang="en-US" sz="7200" dirty="0" smtClean="0"/>
              <a:t>Accepts </a:t>
            </a:r>
            <a:r>
              <a:rPr lang="en-US" sz="7200" b="1" dirty="0" smtClean="0"/>
              <a:t>requirement descriptions or user stories</a:t>
            </a:r>
            <a:r>
              <a:rPr lang="en-US" sz="7200" dirty="0" smtClean="0"/>
              <a:t> via CSV upload or text input.</a:t>
            </a:r>
          </a:p>
          <a:p>
            <a:pPr algn="just">
              <a:buNone/>
            </a:pPr>
            <a:r>
              <a:rPr lang="en-US" sz="7200" dirty="0" smtClean="0"/>
              <a:t>Preprocesses and normalizes text for consistent analysis.</a:t>
            </a:r>
          </a:p>
          <a:p>
            <a:pPr algn="just">
              <a:buNone/>
            </a:pPr>
            <a:endParaRPr lang="en-US" sz="7200" dirty="0" smtClean="0"/>
          </a:p>
          <a:p>
            <a:pPr algn="just">
              <a:buNone/>
            </a:pPr>
            <a:r>
              <a:rPr lang="en-US" sz="7200" b="1" dirty="0" smtClean="0"/>
              <a:t>2. NLP Interpretation &amp; Classification Layer</a:t>
            </a:r>
          </a:p>
          <a:p>
            <a:pPr algn="just">
              <a:buNone/>
            </a:pPr>
            <a:r>
              <a:rPr lang="en-US" sz="7200" dirty="0" smtClean="0"/>
              <a:t>Uses </a:t>
            </a:r>
            <a:r>
              <a:rPr lang="en-US" sz="7200" b="1" dirty="0" smtClean="0"/>
              <a:t>keyword-based heuristics</a:t>
            </a:r>
            <a:r>
              <a:rPr lang="en-US" sz="7200" dirty="0" smtClean="0"/>
              <a:t> and </a:t>
            </a:r>
            <a:r>
              <a:rPr lang="en-US" sz="7200" b="1" dirty="0" smtClean="0"/>
              <a:t>Large Language Model (LLM)</a:t>
            </a:r>
            <a:r>
              <a:rPr lang="en-US" sz="7200" dirty="0" smtClean="0"/>
              <a:t> capabilities (e.g., DistilGPT2 / </a:t>
            </a:r>
            <a:r>
              <a:rPr lang="en-US" sz="7200" dirty="0" err="1" smtClean="0"/>
              <a:t>OpenAI</a:t>
            </a:r>
            <a:r>
              <a:rPr lang="en-US" sz="7200" dirty="0" smtClean="0"/>
              <a:t> API) to interpret requirement semantics.</a:t>
            </a:r>
          </a:p>
          <a:p>
            <a:pPr algn="just">
              <a:buNone/>
            </a:pPr>
            <a:r>
              <a:rPr lang="en-US" sz="7200" dirty="0" smtClean="0"/>
              <a:t>Performs </a:t>
            </a:r>
            <a:r>
              <a:rPr lang="en-US" sz="7200" b="1" dirty="0" smtClean="0"/>
              <a:t>Canonical Type Classification</a:t>
            </a:r>
            <a:r>
              <a:rPr lang="en-US" sz="7200" dirty="0" smtClean="0"/>
              <a:t> into:</a:t>
            </a:r>
          </a:p>
          <a:p>
            <a:pPr lvl="1" algn="just">
              <a:buNone/>
            </a:pPr>
            <a:r>
              <a:rPr lang="en-US" sz="7200" dirty="0" smtClean="0"/>
              <a:t>🟢 </a:t>
            </a:r>
            <a:r>
              <a:rPr lang="en-US" sz="7200" i="1" dirty="0" smtClean="0"/>
              <a:t>Functional</a:t>
            </a:r>
            <a:endParaRPr lang="en-US" sz="7200" dirty="0" smtClean="0"/>
          </a:p>
          <a:p>
            <a:pPr lvl="1" algn="just">
              <a:buNone/>
            </a:pPr>
            <a:r>
              <a:rPr lang="en-US" sz="7200" dirty="0" smtClean="0"/>
              <a:t>🔴 </a:t>
            </a:r>
            <a:r>
              <a:rPr lang="en-US" sz="7200" i="1" dirty="0" smtClean="0"/>
              <a:t>Negative</a:t>
            </a:r>
            <a:endParaRPr lang="en-US" sz="7200" dirty="0" smtClean="0"/>
          </a:p>
          <a:p>
            <a:pPr lvl="1" algn="just">
              <a:buNone/>
            </a:pPr>
            <a:r>
              <a:rPr lang="en-US" sz="7200" dirty="0" smtClean="0"/>
              <a:t>🟣 </a:t>
            </a:r>
            <a:r>
              <a:rPr lang="en-US" sz="7200" i="1" dirty="0" smtClean="0"/>
              <a:t>Non-Functional</a:t>
            </a:r>
            <a:endParaRPr lang="en-US" sz="7200" dirty="0" smtClean="0"/>
          </a:p>
          <a:p>
            <a:pPr algn="just">
              <a:buNone/>
            </a:pPr>
            <a:r>
              <a:rPr lang="en-US" sz="7200" dirty="0" smtClean="0"/>
              <a:t>Ensures linguistic context is preserved for accurate test generation.</a:t>
            </a:r>
          </a:p>
          <a:p>
            <a:pPr algn="just">
              <a:buNone/>
            </a:pPr>
            <a:endParaRPr lang="en-US" sz="7200" dirty="0" smtClean="0"/>
          </a:p>
          <a:p>
            <a:pPr algn="just">
              <a:buNone/>
            </a:pPr>
            <a:r>
              <a:rPr lang="en-US" sz="7200" b="1" dirty="0" smtClean="0"/>
              <a:t>🔍 3. Context-Aware Preconditions &amp; Test Logic Generator</a:t>
            </a:r>
          </a:p>
          <a:p>
            <a:pPr algn="just">
              <a:buNone/>
            </a:pPr>
            <a:r>
              <a:rPr lang="en-US" sz="7200" dirty="0" smtClean="0"/>
              <a:t>Implements a </a:t>
            </a:r>
            <a:r>
              <a:rPr lang="en-US" sz="7200" b="1" dirty="0" smtClean="0"/>
              <a:t>Generic Context-Aware Preconditions Engine</a:t>
            </a:r>
            <a:r>
              <a:rPr lang="en-US" sz="7200" dirty="0" smtClean="0"/>
              <a:t> that dynamically infers relevant preconditions, setup details, and environment dependencies.</a:t>
            </a:r>
          </a:p>
          <a:p>
            <a:pPr algn="just">
              <a:buNone/>
            </a:pPr>
            <a:r>
              <a:rPr lang="en-US" sz="7200" dirty="0" smtClean="0"/>
              <a:t>Automatically generates </a:t>
            </a:r>
            <a:r>
              <a:rPr lang="en-US" sz="7200" b="1" dirty="0" smtClean="0"/>
              <a:t>test steps</a:t>
            </a:r>
            <a:r>
              <a:rPr lang="en-US" sz="7200" dirty="0" smtClean="0"/>
              <a:t> and </a:t>
            </a:r>
            <a:r>
              <a:rPr lang="en-US" sz="7200" b="1" dirty="0" smtClean="0"/>
              <a:t>expected results</a:t>
            </a:r>
            <a:r>
              <a:rPr lang="en-US" sz="7200" dirty="0" smtClean="0"/>
              <a:t> aligned with the classified requirement type.</a:t>
            </a:r>
          </a:p>
          <a:p>
            <a:pPr algn="just">
              <a:buNone/>
            </a:pPr>
            <a:r>
              <a:rPr lang="en-US" sz="7200" dirty="0" smtClean="0"/>
              <a:t>Applies normalization to ensure completeness and consistency across all generated cases.</a:t>
            </a:r>
          </a:p>
          <a:p>
            <a:pPr algn="just">
              <a:buNone/>
            </a:pPr>
            <a:endParaRPr lang="en-US" sz="7400" dirty="0" smtClean="0"/>
          </a:p>
          <a:p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99139" y="49648"/>
            <a:ext cx="5244861" cy="29541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Technical Approach – Architecture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Flow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cnt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9139" y="49648"/>
            <a:ext cx="5244861" cy="29541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Technical Approach – Architecture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Flow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cnt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611771"/>
            <a:ext cx="8548777" cy="5894537"/>
          </a:xfrm>
        </p:spPr>
        <p:txBody>
          <a:bodyPr>
            <a:normAutofit fontScale="32500" lnSpcReduction="20000"/>
          </a:bodyPr>
          <a:lstStyle/>
          <a:p>
            <a:pPr algn="just">
              <a:buNone/>
            </a:pPr>
            <a:r>
              <a:rPr lang="en-US" sz="7400" b="1" dirty="0" smtClean="0"/>
              <a:t>📊 </a:t>
            </a:r>
            <a:r>
              <a:rPr lang="en-US" sz="6200" b="1" dirty="0" smtClean="0"/>
              <a:t>4. Data Structuring &amp; Storage Layer</a:t>
            </a:r>
          </a:p>
          <a:p>
            <a:pPr algn="just">
              <a:buNone/>
            </a:pPr>
            <a:r>
              <a:rPr lang="en-US" sz="6200" dirty="0" smtClean="0"/>
              <a:t>Organizes generated outputs into structured formats using </a:t>
            </a:r>
            <a:r>
              <a:rPr lang="en-US" sz="6200" b="1" dirty="0" smtClean="0"/>
              <a:t>Pandas </a:t>
            </a:r>
            <a:r>
              <a:rPr lang="en-US" sz="6200" b="1" dirty="0" err="1" smtClean="0"/>
              <a:t>DataFrames</a:t>
            </a:r>
            <a:r>
              <a:rPr lang="en-US" sz="6200" dirty="0" smtClean="0"/>
              <a:t>.</a:t>
            </a:r>
          </a:p>
          <a:p>
            <a:pPr algn="just">
              <a:buNone/>
            </a:pPr>
            <a:r>
              <a:rPr lang="en-US" sz="6200" dirty="0" smtClean="0"/>
              <a:t>Supports export in </a:t>
            </a:r>
            <a:r>
              <a:rPr lang="en-US" sz="6200" b="1" dirty="0" smtClean="0"/>
              <a:t>CSV</a:t>
            </a:r>
            <a:r>
              <a:rPr lang="en-US" sz="6200" dirty="0" smtClean="0"/>
              <a:t> and </a:t>
            </a:r>
            <a:r>
              <a:rPr lang="en-US" sz="6200" b="1" dirty="0" smtClean="0"/>
              <a:t>Excel</a:t>
            </a:r>
            <a:r>
              <a:rPr lang="en-US" sz="6200" dirty="0" smtClean="0"/>
              <a:t> formats for QA integration</a:t>
            </a:r>
            <a:r>
              <a:rPr lang="en-US" sz="6200" dirty="0" smtClean="0"/>
              <a:t>.</a:t>
            </a:r>
          </a:p>
          <a:p>
            <a:pPr algn="just">
              <a:buNone/>
            </a:pPr>
            <a:endParaRPr lang="en-US" sz="6200" dirty="0" smtClean="0"/>
          </a:p>
          <a:p>
            <a:pPr algn="just">
              <a:buNone/>
            </a:pPr>
            <a:r>
              <a:rPr lang="en-US" sz="6200" b="1" dirty="0" smtClean="0"/>
              <a:t>🧾 5. Visualization &amp; Coverage Analytics Layer</a:t>
            </a:r>
          </a:p>
          <a:p>
            <a:pPr algn="just">
              <a:buNone/>
            </a:pPr>
            <a:r>
              <a:rPr lang="en-US" sz="6200" dirty="0" smtClean="0"/>
              <a:t>Provides an </a:t>
            </a:r>
            <a:r>
              <a:rPr lang="en-US" sz="6200" b="1" dirty="0" smtClean="0"/>
              <a:t>interactive </a:t>
            </a:r>
            <a:r>
              <a:rPr lang="en-US" sz="6200" b="1" dirty="0" err="1" smtClean="0"/>
              <a:t>Streamlit</a:t>
            </a:r>
            <a:r>
              <a:rPr lang="en-US" sz="6200" b="1" dirty="0" smtClean="0"/>
              <a:t> dashboard</a:t>
            </a:r>
            <a:r>
              <a:rPr lang="en-US" sz="6200" dirty="0" smtClean="0"/>
              <a:t> for:</a:t>
            </a:r>
          </a:p>
          <a:p>
            <a:pPr lvl="1" algn="just">
              <a:buNone/>
            </a:pPr>
            <a:r>
              <a:rPr lang="en-US" sz="6200" dirty="0" smtClean="0"/>
              <a:t>Requirement-wise test coverage summary</a:t>
            </a:r>
          </a:p>
          <a:p>
            <a:pPr lvl="1" algn="just">
              <a:buNone/>
            </a:pPr>
            <a:r>
              <a:rPr lang="en-US" sz="6200" dirty="0" smtClean="0"/>
              <a:t>Functional vs. Non-Functional vs. Negative distribution</a:t>
            </a:r>
          </a:p>
          <a:p>
            <a:pPr lvl="1" algn="just">
              <a:buNone/>
            </a:pPr>
            <a:r>
              <a:rPr lang="en-US" sz="6200" dirty="0" smtClean="0"/>
              <a:t>Visual </a:t>
            </a:r>
            <a:r>
              <a:rPr lang="en-US" sz="6200" b="1" dirty="0" err="1" smtClean="0"/>
              <a:t>heatmaps</a:t>
            </a:r>
            <a:r>
              <a:rPr lang="en-US" sz="6200" dirty="0" smtClean="0"/>
              <a:t> using </a:t>
            </a:r>
            <a:r>
              <a:rPr lang="en-US" sz="6200" dirty="0" err="1" smtClean="0"/>
              <a:t>Matplotlib</a:t>
            </a:r>
            <a:r>
              <a:rPr lang="en-US" sz="6200" dirty="0" smtClean="0"/>
              <a:t> and </a:t>
            </a:r>
            <a:r>
              <a:rPr lang="en-US" sz="6200" dirty="0" err="1" smtClean="0"/>
              <a:t>Seaborn</a:t>
            </a:r>
            <a:r>
              <a:rPr lang="en-US" sz="6200" dirty="0" smtClean="0"/>
              <a:t> for requirement coverage tracking</a:t>
            </a:r>
          </a:p>
          <a:p>
            <a:pPr algn="just">
              <a:buNone/>
            </a:pPr>
            <a:r>
              <a:rPr lang="en-US" sz="6200" dirty="0" smtClean="0"/>
              <a:t>Displays KPI metrics such as total requirements, total test cases, and coverage percentage</a:t>
            </a:r>
            <a:r>
              <a:rPr lang="en-US" sz="6200" dirty="0" smtClean="0"/>
              <a:t>.</a:t>
            </a:r>
          </a:p>
          <a:p>
            <a:pPr algn="just">
              <a:buNone/>
            </a:pPr>
            <a:endParaRPr lang="en-US" sz="6200" dirty="0" smtClean="0"/>
          </a:p>
          <a:p>
            <a:pPr algn="just">
              <a:buNone/>
            </a:pPr>
            <a:r>
              <a:rPr lang="en-US" sz="6200" b="1" dirty="0" smtClean="0"/>
              <a:t>☁6. Integration &amp; Deployment Layer</a:t>
            </a:r>
          </a:p>
          <a:p>
            <a:pPr algn="just">
              <a:buNone/>
            </a:pPr>
            <a:r>
              <a:rPr lang="en-US" sz="6200" dirty="0" smtClean="0"/>
              <a:t>Built using </a:t>
            </a:r>
            <a:r>
              <a:rPr lang="en-US" sz="6200" b="1" dirty="0" err="1" smtClean="0"/>
              <a:t>Streamlit</a:t>
            </a:r>
            <a:r>
              <a:rPr lang="en-US" sz="6200" dirty="0" smtClean="0"/>
              <a:t> for web-based interaction and deployment.</a:t>
            </a:r>
          </a:p>
          <a:p>
            <a:pPr algn="just">
              <a:buNone/>
            </a:pPr>
            <a:r>
              <a:rPr lang="en-US" sz="6200" dirty="0" smtClean="0"/>
              <a:t>Optionally integrates </a:t>
            </a:r>
            <a:r>
              <a:rPr lang="en-US" sz="6200" b="1" dirty="0" err="1" smtClean="0"/>
              <a:t>OpenAI</a:t>
            </a:r>
            <a:r>
              <a:rPr lang="en-US" sz="6200" b="1" dirty="0" smtClean="0"/>
              <a:t> API</a:t>
            </a:r>
            <a:r>
              <a:rPr lang="en-US" sz="6200" dirty="0" smtClean="0"/>
              <a:t> for enhanced natural language generation.</a:t>
            </a:r>
          </a:p>
          <a:p>
            <a:pPr algn="just">
              <a:buNone/>
            </a:pPr>
            <a:r>
              <a:rPr lang="en-US" sz="6200" dirty="0" smtClean="0"/>
              <a:t>Lightweight and scalable for real-time QA assistance in continuous integration pipelines.</a:t>
            </a:r>
          </a:p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5.Technical Approach – Tech Stack &amp; Rationale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623"/>
                <a:gridCol w="1828800"/>
                <a:gridCol w="48911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Component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Technology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Rationale / Purpose</a:t>
                      </a:r>
                      <a:endParaRPr lang="en-US" sz="12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 dirty="0"/>
                        <a:t>Frontend (User Interface)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 dirty="0" err="1"/>
                        <a:t>Streamlit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/>
                        <a:t>Enables quick and interactive web-based interface for requirement input, dashboard visualization, and CSV/Excel downloads. Minimal setup with Python integration.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Backend Processing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 dirty="0"/>
                        <a:t>Python 3.x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/>
                        <a:t>Core programming language for all data handling, NLP logic, and ML integration. Provides rich ecosystem for AI/ML and data processing.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Natural Language Processing (NLP) Engine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OpenAI GPT / Hugging Face Transformers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/>
                        <a:t>Generates descriptive test cases, interprets natural-language requirements, and performs intelligent classification of Functional, Non-Functional, and Negative test cases.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 dirty="0"/>
                        <a:t>Data Handling &amp; Transformation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Pandas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/>
                        <a:t>Simplifies manipulation of CSV/Excel data, merging, and cleaning during requirement-to-test-case generation workflow.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Visualization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Matplotlib &amp; Seaborn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/>
                        <a:t>Used to create heatmaps and bar charts to show test coverage percentage, case distribution, and overall progress visually.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Storage &amp; Export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CSV / ExcelWriter (OpenPyXL)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/>
                        <a:t>Ensures generated test cases can be downloaded and shared in universally accepted QA documentation formats.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AI-Oriented Preprocessing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Regex / Custom Keyword Parser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/>
                        <a:t>Extracts and interprets contextual cues from requirements (like “login,” “update,” or “payment”) for precondition and step generation.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Environment Management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dotenv (.env)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/>
                        <a:t>Secures sensitive credentials (e.g., OpenAI API key) and allows flexible deployment configurations.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200" b="1"/>
                        <a:t>Visualization Frontend Enhancements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 dirty="0" err="1"/>
                        <a:t>Streamlit</a:t>
                      </a:r>
                      <a:r>
                        <a:rPr lang="en-US" sz="1200" b="1" dirty="0"/>
                        <a:t> Components &amp; Charts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/>
                        <a:t>For user-friendly dashboards and data exploration (</a:t>
                      </a:r>
                      <a:r>
                        <a:rPr lang="en-US" sz="1200" dirty="0" err="1"/>
                        <a:t>heatmap</a:t>
                      </a:r>
                      <a:r>
                        <a:rPr lang="en-US" sz="1200" dirty="0"/>
                        <a:t>, coverage %, total case count, etc.).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b="1">
                <a:solidFill>
                  <a:schemeClr val="accent6">
                    <a:lumMod val="75000"/>
                  </a:schemeClr>
                </a:solidFill>
              </a:rPr>
              <a:t>Technical Approach – Tech Stack &amp; Rationale</a:t>
            </a:r>
          </a:p>
        </p:txBody>
      </p:sp>
      <p:pic>
        <p:nvPicPr>
          <p:cNvPr id="2050" name="Picture 2" descr="C:\Users\Admin\Downloads\ChatGPT Image Oct 13, 2025, 09_56_29 AM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45721" y="1600200"/>
            <a:ext cx="5650302" cy="4525963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785" y="162496"/>
            <a:ext cx="7116792" cy="82954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6. High-Level Code Explanation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785" y="1183318"/>
            <a:ext cx="7297947" cy="5538157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Algorithmic </a:t>
            </a:r>
            <a:r>
              <a:rPr lang="en-US" sz="2000" b="1" dirty="0" err="1" smtClean="0">
                <a:solidFill>
                  <a:srgbClr val="FF0000"/>
                </a:solidFill>
              </a:rPr>
              <a:t>Pseudocode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b="1" dirty="0" smtClean="0"/>
              <a:t>1. </a:t>
            </a:r>
            <a:r>
              <a:rPr lang="en-US" sz="1800" b="1" dirty="0" smtClean="0"/>
              <a:t>Load configurations, environment, and model.</a:t>
            </a:r>
          </a:p>
          <a:p>
            <a:pPr>
              <a:buNone/>
            </a:pPr>
            <a:r>
              <a:rPr lang="en-US" sz="1800" b="1" dirty="0" smtClean="0"/>
              <a:t>2. Display </a:t>
            </a:r>
            <a:r>
              <a:rPr lang="en-US" sz="1800" b="1" dirty="0" err="1" smtClean="0"/>
              <a:t>Streamlit</a:t>
            </a:r>
            <a:r>
              <a:rPr lang="en-US" sz="1800" b="1" dirty="0" smtClean="0"/>
              <a:t> interface.</a:t>
            </a:r>
          </a:p>
          <a:p>
            <a:pPr>
              <a:buNone/>
            </a:pPr>
            <a:r>
              <a:rPr lang="en-US" sz="1800" b="1" dirty="0" smtClean="0"/>
              <a:t>3. Get user input (CSV or manual).</a:t>
            </a:r>
          </a:p>
          <a:p>
            <a:pPr>
              <a:buNone/>
            </a:pPr>
            <a:r>
              <a:rPr lang="en-US" sz="1800" b="1" dirty="0" smtClean="0"/>
              <a:t>4. For each requirement:</a:t>
            </a:r>
          </a:p>
          <a:p>
            <a:pPr>
              <a:buNone/>
            </a:pPr>
            <a:r>
              <a:rPr lang="en-US" sz="1800" b="1" dirty="0" smtClean="0"/>
              <a:t>      a. Classify requirement (Functional/Non-Functional/Negative)</a:t>
            </a:r>
          </a:p>
          <a:p>
            <a:pPr>
              <a:buNone/>
            </a:pPr>
            <a:r>
              <a:rPr lang="en-US" sz="1800" b="1" dirty="0" smtClean="0"/>
              <a:t>      b. Generate preconditions based on keywords</a:t>
            </a:r>
          </a:p>
          <a:p>
            <a:pPr>
              <a:buNone/>
            </a:pPr>
            <a:r>
              <a:rPr lang="en-US" sz="1800" b="1" dirty="0" smtClean="0"/>
              <a:t>      c. Auto-fill description, steps, and expected results</a:t>
            </a:r>
          </a:p>
          <a:p>
            <a:pPr>
              <a:buNone/>
            </a:pPr>
            <a:r>
              <a:rPr lang="en-US" sz="1800" b="1" dirty="0" smtClean="0"/>
              <a:t>      d. Assign unique Test Case ID</a:t>
            </a:r>
          </a:p>
          <a:p>
            <a:pPr>
              <a:buNone/>
            </a:pPr>
            <a:r>
              <a:rPr lang="en-US" sz="1800" b="1" dirty="0" smtClean="0"/>
              <a:t>      e. Add to </a:t>
            </a:r>
            <a:r>
              <a:rPr lang="en-US" sz="1800" b="1" dirty="0" err="1" smtClean="0"/>
              <a:t>DataFrame</a:t>
            </a:r>
            <a:endParaRPr lang="en-US" sz="1800" b="1" dirty="0" smtClean="0"/>
          </a:p>
          <a:p>
            <a:pPr>
              <a:buNone/>
            </a:pPr>
            <a:r>
              <a:rPr lang="en-US" sz="1800" b="1" dirty="0" smtClean="0"/>
              <a:t>      f. If negative case missing → generate synthetic one</a:t>
            </a:r>
          </a:p>
          <a:p>
            <a:pPr>
              <a:buNone/>
            </a:pPr>
            <a:r>
              <a:rPr lang="en-US" sz="1800" b="1" dirty="0" smtClean="0"/>
              <a:t>5. Concatenate all test cases into final dataset</a:t>
            </a:r>
          </a:p>
          <a:p>
            <a:pPr>
              <a:buNone/>
            </a:pPr>
            <a:r>
              <a:rPr lang="en-US" sz="1800" b="1" dirty="0" smtClean="0"/>
              <a:t>6. Compute coverage metrics</a:t>
            </a:r>
          </a:p>
          <a:p>
            <a:pPr>
              <a:buNone/>
            </a:pPr>
            <a:r>
              <a:rPr lang="en-US" sz="1800" b="1" dirty="0" smtClean="0"/>
              <a:t>7. Plot </a:t>
            </a:r>
            <a:r>
              <a:rPr lang="en-US" sz="1800" b="1" dirty="0" err="1" smtClean="0"/>
              <a:t>heatmap</a:t>
            </a:r>
            <a:r>
              <a:rPr lang="en-US" sz="1800" b="1" dirty="0" smtClean="0"/>
              <a:t> visualization</a:t>
            </a:r>
          </a:p>
          <a:p>
            <a:pPr>
              <a:buNone/>
            </a:pPr>
            <a:r>
              <a:rPr lang="en-US" sz="1800" b="1" dirty="0" smtClean="0"/>
              <a:t>8. Export results to CSV and Excel</a:t>
            </a:r>
          </a:p>
          <a:p>
            <a:pPr>
              <a:buNone/>
            </a:pPr>
            <a:r>
              <a:rPr lang="en-US" sz="1800" b="1" dirty="0" smtClean="0"/>
              <a:t>9. Display interactive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166" y="225694"/>
            <a:ext cx="8893834" cy="6632306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4200" b="1" dirty="0" smtClean="0"/>
              <a:t>High-Level Code Explanation</a:t>
            </a:r>
          </a:p>
          <a:p>
            <a:pPr>
              <a:buNone/>
            </a:pPr>
            <a:r>
              <a:rPr lang="en-US" sz="4200" b="1" dirty="0" smtClean="0"/>
              <a:t>1. Input Handling</a:t>
            </a:r>
          </a:p>
          <a:p>
            <a:pPr>
              <a:buNone/>
            </a:pPr>
            <a:r>
              <a:rPr lang="en-US" sz="4200" dirty="0" smtClean="0"/>
              <a:t>Accepts </a:t>
            </a:r>
            <a:r>
              <a:rPr lang="en-US" sz="4200" b="1" dirty="0" smtClean="0"/>
              <a:t>manual text input</a:t>
            </a:r>
            <a:r>
              <a:rPr lang="en-US" sz="4200" dirty="0" smtClean="0"/>
              <a:t> or </a:t>
            </a:r>
            <a:r>
              <a:rPr lang="en-US" sz="4200" b="1" dirty="0" smtClean="0"/>
              <a:t>CSV upload</a:t>
            </a:r>
            <a:r>
              <a:rPr lang="en-US" sz="4200" dirty="0" smtClean="0"/>
              <a:t> containing requirement statements.</a:t>
            </a:r>
          </a:p>
          <a:p>
            <a:pPr>
              <a:buNone/>
            </a:pPr>
            <a:r>
              <a:rPr lang="en-US" sz="4200" dirty="0" smtClean="0"/>
              <a:t>Uses </a:t>
            </a:r>
            <a:r>
              <a:rPr lang="en-US" sz="4200" b="1" dirty="0" err="1" smtClean="0"/>
              <a:t>Streamlit</a:t>
            </a:r>
            <a:r>
              <a:rPr lang="en-US" sz="4200" dirty="0" smtClean="0"/>
              <a:t> interface for user-friendly input and real-time feedback.</a:t>
            </a:r>
          </a:p>
          <a:p>
            <a:pPr>
              <a:buNone/>
            </a:pPr>
            <a:r>
              <a:rPr lang="en-US" sz="4200" dirty="0" smtClean="0"/>
              <a:t>Each requirement is validated, cleaned, and stored in a Pandas </a:t>
            </a:r>
            <a:r>
              <a:rPr lang="en-US" sz="4200" dirty="0" err="1" smtClean="0"/>
              <a:t>DataFrame</a:t>
            </a:r>
            <a:r>
              <a:rPr lang="en-US" sz="4200" dirty="0" smtClean="0"/>
              <a:t>.</a:t>
            </a:r>
          </a:p>
          <a:p>
            <a:pPr>
              <a:buNone/>
            </a:pPr>
            <a:r>
              <a:rPr lang="en-US" sz="4200" dirty="0" err="1" smtClean="0"/>
              <a:t>uploaded_file</a:t>
            </a:r>
            <a:r>
              <a:rPr lang="en-US" sz="4200" dirty="0" smtClean="0"/>
              <a:t> = </a:t>
            </a:r>
            <a:r>
              <a:rPr lang="en-US" sz="4200" dirty="0" err="1" smtClean="0"/>
              <a:t>st.file_uploader</a:t>
            </a:r>
            <a:r>
              <a:rPr lang="en-US" sz="4200" dirty="0" smtClean="0"/>
              <a:t>("Upload CSV", type=["</a:t>
            </a:r>
            <a:r>
              <a:rPr lang="en-US" sz="4200" dirty="0" err="1" smtClean="0"/>
              <a:t>csv</a:t>
            </a:r>
            <a:r>
              <a:rPr lang="en-US" sz="4200" dirty="0" smtClean="0"/>
              <a:t>"]) if </a:t>
            </a:r>
            <a:r>
              <a:rPr lang="en-US" sz="4200" dirty="0" err="1" smtClean="0"/>
              <a:t>uploaded_file</a:t>
            </a:r>
            <a:r>
              <a:rPr lang="en-US" sz="4200" dirty="0" smtClean="0"/>
              <a:t>: </a:t>
            </a:r>
            <a:r>
              <a:rPr lang="en-US" sz="4200" dirty="0" err="1" smtClean="0"/>
              <a:t>df</a:t>
            </a:r>
            <a:r>
              <a:rPr lang="en-US" sz="4200" dirty="0" smtClean="0"/>
              <a:t> = </a:t>
            </a:r>
            <a:r>
              <a:rPr lang="en-US" sz="4200" dirty="0" err="1" smtClean="0"/>
              <a:t>pd.read_csv</a:t>
            </a:r>
            <a:r>
              <a:rPr lang="en-US" sz="4200" dirty="0" smtClean="0"/>
              <a:t>(</a:t>
            </a:r>
            <a:r>
              <a:rPr lang="en-US" sz="4200" dirty="0" err="1" smtClean="0"/>
              <a:t>uploaded_file</a:t>
            </a:r>
            <a:r>
              <a:rPr lang="en-US" sz="4200" dirty="0" smtClean="0"/>
              <a:t>) else: </a:t>
            </a:r>
            <a:r>
              <a:rPr lang="en-US" sz="4200" dirty="0" err="1" smtClean="0"/>
              <a:t>user_input</a:t>
            </a:r>
            <a:r>
              <a:rPr lang="en-US" sz="4200" dirty="0" smtClean="0"/>
              <a:t> = </a:t>
            </a:r>
            <a:r>
              <a:rPr lang="en-US" sz="4200" dirty="0" err="1" smtClean="0"/>
              <a:t>st.text_area</a:t>
            </a:r>
            <a:r>
              <a:rPr lang="en-US" sz="4200" dirty="0" smtClean="0"/>
              <a:t>("Enter requirements manually") </a:t>
            </a:r>
          </a:p>
          <a:p>
            <a:pPr>
              <a:buNone/>
            </a:pPr>
            <a:r>
              <a:rPr lang="en-US" sz="4200" b="1" dirty="0" smtClean="0"/>
              <a:t>2. Requirement Classification</a:t>
            </a:r>
          </a:p>
          <a:p>
            <a:pPr>
              <a:buNone/>
            </a:pPr>
            <a:r>
              <a:rPr lang="en-US" sz="4200" dirty="0" smtClean="0"/>
              <a:t>Each requirement is classified as:</a:t>
            </a:r>
          </a:p>
          <a:p>
            <a:pPr lvl="1">
              <a:buNone/>
            </a:pPr>
            <a:r>
              <a:rPr lang="en-US" sz="4200" b="1" dirty="0" smtClean="0"/>
              <a:t>Functional</a:t>
            </a:r>
            <a:endParaRPr lang="en-US" sz="4200" dirty="0" smtClean="0"/>
          </a:p>
          <a:p>
            <a:pPr lvl="1">
              <a:buNone/>
            </a:pPr>
            <a:r>
              <a:rPr lang="en-US" sz="4200" b="1" dirty="0" smtClean="0"/>
              <a:t>Non-Functional</a:t>
            </a:r>
            <a:endParaRPr lang="en-US" sz="4200" dirty="0" smtClean="0"/>
          </a:p>
          <a:p>
            <a:pPr lvl="1">
              <a:buNone/>
            </a:pPr>
            <a:r>
              <a:rPr lang="en-US" sz="4200" b="1" dirty="0" smtClean="0"/>
              <a:t>Negative / Error Handling</a:t>
            </a:r>
            <a:endParaRPr lang="en-US" sz="4200" dirty="0" smtClean="0"/>
          </a:p>
          <a:p>
            <a:pPr>
              <a:buNone/>
            </a:pPr>
            <a:r>
              <a:rPr lang="en-US" sz="4200" dirty="0" smtClean="0"/>
              <a:t>Classification uses </a:t>
            </a:r>
            <a:r>
              <a:rPr lang="en-US" sz="4200" b="1" dirty="0" smtClean="0"/>
              <a:t>keyword-based NLP logic</a:t>
            </a:r>
            <a:r>
              <a:rPr lang="en-US" sz="4200" dirty="0" smtClean="0"/>
              <a:t> for contextual detection.</a:t>
            </a:r>
          </a:p>
          <a:p>
            <a:pPr>
              <a:buNone/>
            </a:pPr>
            <a:r>
              <a:rPr lang="en-US" sz="4200" dirty="0" smtClean="0"/>
              <a:t>def </a:t>
            </a:r>
            <a:r>
              <a:rPr lang="en-US" sz="4200" dirty="0" err="1" smtClean="0"/>
              <a:t>classify_requirement</a:t>
            </a:r>
            <a:r>
              <a:rPr lang="en-US" sz="4200" dirty="0" smtClean="0"/>
              <a:t>(</a:t>
            </a:r>
            <a:r>
              <a:rPr lang="en-US" sz="4200" dirty="0" err="1" smtClean="0"/>
              <a:t>req</a:t>
            </a:r>
            <a:r>
              <a:rPr lang="en-US" sz="4200" dirty="0" smtClean="0"/>
              <a:t>): if any(word in </a:t>
            </a:r>
            <a:r>
              <a:rPr lang="en-US" sz="4200" dirty="0" err="1" smtClean="0"/>
              <a:t>req.lower</a:t>
            </a:r>
            <a:r>
              <a:rPr lang="en-US" sz="4200" dirty="0" smtClean="0"/>
              <a:t>() for word in ["error", "invalid", "fail"]): return "Negative" </a:t>
            </a:r>
            <a:r>
              <a:rPr lang="en-US" sz="4200" dirty="0" err="1" smtClean="0"/>
              <a:t>elif</a:t>
            </a:r>
            <a:r>
              <a:rPr lang="en-US" sz="4200" dirty="0" smtClean="0"/>
              <a:t> any(word in </a:t>
            </a:r>
            <a:r>
              <a:rPr lang="en-US" sz="4200" dirty="0" err="1" smtClean="0"/>
              <a:t>req.lower</a:t>
            </a:r>
            <a:r>
              <a:rPr lang="en-US" sz="4200" dirty="0" smtClean="0"/>
              <a:t>() for word in ["performance", "secure", "availability"]): return "Non-Functional" else: return "Functional" </a:t>
            </a:r>
          </a:p>
          <a:p>
            <a:pPr>
              <a:buNone/>
            </a:pPr>
            <a:r>
              <a:rPr lang="en-US" sz="4200" b="1" dirty="0" smtClean="0"/>
              <a:t>3. Context-Aware Preconditions Generation</a:t>
            </a:r>
          </a:p>
          <a:p>
            <a:pPr>
              <a:buNone/>
            </a:pPr>
            <a:r>
              <a:rPr lang="en-US" sz="4200" dirty="0" smtClean="0"/>
              <a:t>Dynamically generates realistic </a:t>
            </a:r>
            <a:r>
              <a:rPr lang="en-US" sz="4200" b="1" dirty="0" smtClean="0"/>
              <a:t>preconditions</a:t>
            </a:r>
            <a:r>
              <a:rPr lang="en-US" sz="4200" dirty="0" smtClean="0"/>
              <a:t> by analyzing verbs and contexts such as </a:t>
            </a:r>
            <a:r>
              <a:rPr lang="en-US" sz="4200" i="1" dirty="0" smtClean="0"/>
              <a:t>login</a:t>
            </a:r>
            <a:r>
              <a:rPr lang="en-US" sz="4200" dirty="0" smtClean="0"/>
              <a:t>, </a:t>
            </a:r>
            <a:r>
              <a:rPr lang="en-US" sz="4200" i="1" dirty="0" smtClean="0"/>
              <a:t>payment</a:t>
            </a:r>
            <a:r>
              <a:rPr lang="en-US" sz="4200" dirty="0" smtClean="0"/>
              <a:t>, </a:t>
            </a:r>
            <a:r>
              <a:rPr lang="en-US" sz="4200" i="1" dirty="0" smtClean="0"/>
              <a:t>upload</a:t>
            </a:r>
            <a:r>
              <a:rPr lang="en-US" sz="4200" dirty="0" smtClean="0"/>
              <a:t>, etc.</a:t>
            </a:r>
          </a:p>
          <a:p>
            <a:pPr>
              <a:buNone/>
            </a:pPr>
            <a:r>
              <a:rPr lang="en-US" sz="4200" dirty="0" smtClean="0"/>
              <a:t>Example:</a:t>
            </a:r>
          </a:p>
          <a:p>
            <a:pPr lvl="1">
              <a:buNone/>
            </a:pPr>
            <a:r>
              <a:rPr lang="en-US" sz="4200" dirty="0" smtClean="0"/>
              <a:t>“Login” → </a:t>
            </a:r>
            <a:r>
              <a:rPr lang="en-US" sz="4200" i="1" dirty="0" smtClean="0"/>
              <a:t>User must have valid credentials.</a:t>
            </a:r>
            <a:endParaRPr lang="en-US" sz="4200" dirty="0" smtClean="0"/>
          </a:p>
          <a:p>
            <a:pPr lvl="1">
              <a:buNone/>
            </a:pPr>
            <a:r>
              <a:rPr lang="en-US" sz="4200" dirty="0" smtClean="0"/>
              <a:t>“Payment” → </a:t>
            </a:r>
            <a:r>
              <a:rPr lang="en-US" sz="4200" i="1" dirty="0" smtClean="0"/>
              <a:t>Payment gateway should be active.</a:t>
            </a:r>
            <a:endParaRPr lang="en-US" sz="4200" dirty="0" smtClean="0"/>
          </a:p>
          <a:p>
            <a:pPr>
              <a:buNone/>
            </a:pPr>
            <a:r>
              <a:rPr lang="en-US" sz="4200" dirty="0" smtClean="0"/>
              <a:t>def </a:t>
            </a:r>
            <a:r>
              <a:rPr lang="en-US" sz="4200" dirty="0" err="1" smtClean="0"/>
              <a:t>generate_preconditions</a:t>
            </a:r>
            <a:r>
              <a:rPr lang="en-US" sz="4200" dirty="0" smtClean="0"/>
              <a:t>(requirement): if "login" in </a:t>
            </a:r>
            <a:r>
              <a:rPr lang="en-US" sz="4200" dirty="0" err="1" smtClean="0"/>
              <a:t>requirement.lower</a:t>
            </a:r>
            <a:r>
              <a:rPr lang="en-US" sz="4200" dirty="0" smtClean="0"/>
              <a:t>(): return "User must have valid credentials." </a:t>
            </a:r>
            <a:r>
              <a:rPr lang="en-US" sz="4200" dirty="0" err="1" smtClean="0"/>
              <a:t>elif</a:t>
            </a:r>
            <a:r>
              <a:rPr lang="en-US" sz="4200" dirty="0" smtClean="0"/>
              <a:t> "payment" in </a:t>
            </a:r>
            <a:r>
              <a:rPr lang="en-US" sz="4200" dirty="0" err="1" smtClean="0"/>
              <a:t>requirement.lower</a:t>
            </a:r>
            <a:r>
              <a:rPr lang="en-US" sz="4200" dirty="0" smtClean="0"/>
              <a:t>(): return "Payment gateway must be configured." return "System and required modules should be operational." </a:t>
            </a:r>
          </a:p>
          <a:p>
            <a:pPr>
              <a:buNone/>
            </a:pPr>
            <a:r>
              <a:rPr lang="en-US" sz="4200" b="1" dirty="0" smtClean="0"/>
              <a:t>4. Automatic Test Case Generation</a:t>
            </a:r>
          </a:p>
          <a:p>
            <a:pPr>
              <a:buNone/>
            </a:pPr>
            <a:r>
              <a:rPr lang="en-US" sz="4200" dirty="0" smtClean="0"/>
              <a:t>Fills all fields:</a:t>
            </a:r>
          </a:p>
          <a:p>
            <a:pPr lvl="1">
              <a:buNone/>
            </a:pPr>
            <a:r>
              <a:rPr lang="en-US" sz="4200" b="1" dirty="0" smtClean="0"/>
              <a:t>Description</a:t>
            </a:r>
            <a:endParaRPr lang="en-US" sz="4200" dirty="0" smtClean="0"/>
          </a:p>
          <a:p>
            <a:pPr lvl="1">
              <a:buNone/>
            </a:pPr>
            <a:r>
              <a:rPr lang="en-US" sz="4200" b="1" dirty="0" smtClean="0"/>
              <a:t>Preconditions</a:t>
            </a:r>
            <a:endParaRPr lang="en-US" sz="4200" dirty="0" smtClean="0"/>
          </a:p>
          <a:p>
            <a:pPr lvl="1">
              <a:buNone/>
            </a:pPr>
            <a:r>
              <a:rPr lang="en-US" sz="4200" b="1" dirty="0" smtClean="0"/>
              <a:t>Test Steps</a:t>
            </a:r>
            <a:endParaRPr lang="en-US" sz="4200" dirty="0" smtClean="0"/>
          </a:p>
          <a:p>
            <a:pPr lvl="1">
              <a:buNone/>
            </a:pPr>
            <a:r>
              <a:rPr lang="en-US" sz="4200" b="1" dirty="0" smtClean="0"/>
              <a:t>Expected Result</a:t>
            </a:r>
            <a:endParaRPr lang="en-US" sz="4200" dirty="0" smtClean="0"/>
          </a:p>
          <a:p>
            <a:pPr>
              <a:buNone/>
            </a:pPr>
            <a:r>
              <a:rPr lang="en-US" sz="4200" dirty="0" smtClean="0"/>
              <a:t>Generates </a:t>
            </a:r>
            <a:r>
              <a:rPr lang="en-US" sz="4200" b="1" dirty="0" smtClean="0"/>
              <a:t>negative test cases automatically</a:t>
            </a:r>
            <a:r>
              <a:rPr lang="en-US" sz="4200" dirty="0" smtClean="0"/>
              <a:t> if missing.</a:t>
            </a:r>
          </a:p>
          <a:p>
            <a:pPr>
              <a:buNone/>
            </a:pPr>
            <a:r>
              <a:rPr lang="en-US" sz="4200" dirty="0" smtClean="0"/>
              <a:t>def </a:t>
            </a:r>
            <a:r>
              <a:rPr lang="en-US" sz="4200" dirty="0" err="1" smtClean="0"/>
              <a:t>generate_test_case</a:t>
            </a:r>
            <a:r>
              <a:rPr lang="en-US" sz="4200" dirty="0" smtClean="0"/>
              <a:t>(</a:t>
            </a:r>
            <a:r>
              <a:rPr lang="en-US" sz="4200" dirty="0" err="1" smtClean="0"/>
              <a:t>req</a:t>
            </a:r>
            <a:r>
              <a:rPr lang="en-US" sz="4200" dirty="0" smtClean="0"/>
              <a:t>, label): return { "Description": </a:t>
            </a:r>
            <a:r>
              <a:rPr lang="en-US" sz="4200" dirty="0" err="1" smtClean="0"/>
              <a:t>f"Verify</a:t>
            </a:r>
            <a:r>
              <a:rPr lang="en-US" sz="4200" dirty="0" smtClean="0"/>
              <a:t> {</a:t>
            </a:r>
            <a:r>
              <a:rPr lang="en-US" sz="4200" dirty="0" err="1" smtClean="0"/>
              <a:t>req.lower</a:t>
            </a:r>
            <a:r>
              <a:rPr lang="en-US" sz="4200" dirty="0" smtClean="0"/>
              <a:t>()} works as expected.", "Preconditions": </a:t>
            </a:r>
            <a:r>
              <a:rPr lang="en-US" sz="4200" dirty="0" err="1" smtClean="0"/>
              <a:t>generate_preconditions</a:t>
            </a:r>
            <a:r>
              <a:rPr lang="en-US" sz="4200" dirty="0" smtClean="0"/>
              <a:t>(</a:t>
            </a:r>
            <a:r>
              <a:rPr lang="en-US" sz="4200" dirty="0" err="1" smtClean="0"/>
              <a:t>req</a:t>
            </a:r>
            <a:r>
              <a:rPr lang="en-US" sz="4200" dirty="0" smtClean="0"/>
              <a:t>), "Test Steps": "1. Launch app\n2. Perform operation\n3. Verify output", "Expected Result": "System behaves as expected." } </a:t>
            </a:r>
          </a:p>
          <a:p>
            <a:pPr>
              <a:buNone/>
            </a:pPr>
            <a:r>
              <a:rPr lang="en-US" sz="4200" b="1" dirty="0" smtClean="0"/>
              <a:t>5. Dashboard Visualization</a:t>
            </a:r>
          </a:p>
          <a:p>
            <a:pPr>
              <a:buNone/>
            </a:pPr>
            <a:r>
              <a:rPr lang="en-US" sz="4200" dirty="0" smtClean="0"/>
              <a:t>Summarizes generated test cases by category.</a:t>
            </a:r>
          </a:p>
          <a:p>
            <a:pPr>
              <a:buNone/>
            </a:pPr>
            <a:r>
              <a:rPr lang="en-US" sz="4200" dirty="0" smtClean="0"/>
              <a:t>Plots a </a:t>
            </a:r>
            <a:r>
              <a:rPr lang="en-US" sz="4200" b="1" dirty="0" smtClean="0"/>
              <a:t>coverage </a:t>
            </a:r>
            <a:r>
              <a:rPr lang="en-US" sz="4200" b="1" dirty="0" err="1" smtClean="0"/>
              <a:t>heatmap</a:t>
            </a:r>
            <a:r>
              <a:rPr lang="en-US" sz="4200" dirty="0" smtClean="0"/>
              <a:t> using </a:t>
            </a:r>
            <a:r>
              <a:rPr lang="en-US" sz="4200" dirty="0" err="1" smtClean="0"/>
              <a:t>Seaborn</a:t>
            </a:r>
            <a:r>
              <a:rPr lang="en-US" sz="4200" dirty="0" smtClean="0"/>
              <a:t> and </a:t>
            </a:r>
            <a:r>
              <a:rPr lang="en-US" sz="4200" dirty="0" err="1" smtClean="0"/>
              <a:t>Matplotlib</a:t>
            </a:r>
            <a:r>
              <a:rPr lang="en-US" sz="4200" dirty="0" smtClean="0"/>
              <a:t>.</a:t>
            </a:r>
          </a:p>
          <a:p>
            <a:pPr>
              <a:buNone/>
            </a:pPr>
            <a:r>
              <a:rPr lang="en-US" sz="4200" dirty="0" smtClean="0"/>
              <a:t>summary = </a:t>
            </a:r>
            <a:r>
              <a:rPr lang="en-US" sz="4200" dirty="0" err="1" smtClean="0"/>
              <a:t>df</a:t>
            </a:r>
            <a:r>
              <a:rPr lang="en-US" sz="4200" dirty="0" smtClean="0"/>
              <a:t>["Type Label"].</a:t>
            </a:r>
            <a:r>
              <a:rPr lang="en-US" sz="4200" dirty="0" err="1" smtClean="0"/>
              <a:t>value_counts</a:t>
            </a:r>
            <a:r>
              <a:rPr lang="en-US" sz="4200" dirty="0" smtClean="0"/>
              <a:t>() </a:t>
            </a:r>
            <a:r>
              <a:rPr lang="en-US" sz="4200" dirty="0" err="1" smtClean="0"/>
              <a:t>sns.heatmap</a:t>
            </a:r>
            <a:r>
              <a:rPr lang="en-US" sz="4200" dirty="0" smtClean="0"/>
              <a:t>(data=</a:t>
            </a:r>
            <a:r>
              <a:rPr lang="en-US" sz="4200" dirty="0" err="1" smtClean="0"/>
              <a:t>summary.to_frame</a:t>
            </a:r>
            <a:r>
              <a:rPr lang="en-US" sz="4200" dirty="0" smtClean="0"/>
              <a:t>().T, </a:t>
            </a:r>
            <a:r>
              <a:rPr lang="en-US" sz="4200" dirty="0" err="1" smtClean="0"/>
              <a:t>annot</a:t>
            </a:r>
            <a:r>
              <a:rPr lang="en-US" sz="4200" dirty="0" smtClean="0"/>
              <a:t>=True, </a:t>
            </a:r>
            <a:r>
              <a:rPr lang="en-US" sz="4200" dirty="0" err="1" smtClean="0"/>
              <a:t>cmap</a:t>
            </a:r>
            <a:r>
              <a:rPr lang="en-US" sz="4200" dirty="0" smtClean="0"/>
              <a:t>="Blues") </a:t>
            </a:r>
          </a:p>
          <a:p>
            <a:pPr>
              <a:buNone/>
            </a:pPr>
            <a:r>
              <a:rPr lang="en-US" sz="4200" b="1" dirty="0" smtClean="0"/>
              <a:t>6. Output Generation</a:t>
            </a:r>
          </a:p>
          <a:p>
            <a:pPr>
              <a:buNone/>
            </a:pPr>
            <a:r>
              <a:rPr lang="en-US" sz="4200" dirty="0" smtClean="0"/>
              <a:t>Final test cases exported to:</a:t>
            </a:r>
          </a:p>
          <a:p>
            <a:pPr lvl="1">
              <a:buNone/>
            </a:pPr>
            <a:r>
              <a:rPr lang="en-US" sz="4200" b="1" dirty="0" smtClean="0"/>
              <a:t>CSV</a:t>
            </a:r>
            <a:r>
              <a:rPr lang="en-US" sz="4200" dirty="0" smtClean="0"/>
              <a:t> → for automation integration</a:t>
            </a:r>
          </a:p>
          <a:p>
            <a:pPr lvl="1">
              <a:buNone/>
            </a:pPr>
            <a:r>
              <a:rPr lang="en-US" sz="4200" b="1" dirty="0" smtClean="0"/>
              <a:t>Excel</a:t>
            </a:r>
            <a:r>
              <a:rPr lang="en-US" sz="4200" dirty="0" smtClean="0"/>
              <a:t> → for QA documentation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08098" y="103517"/>
            <a:ext cx="4442604" cy="224287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High-Level Code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Explanation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cont…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582" y="274638"/>
            <a:ext cx="6504316" cy="99344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7. Final Input-Output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59479" y="1388854"/>
            <a:ext cx="6263419" cy="496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93298" y="3127877"/>
            <a:ext cx="167352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Sample Input </a:t>
            </a:r>
            <a:endParaRPr lang="en-US" b="1" dirty="0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1966823" y="3309031"/>
            <a:ext cx="292656" cy="35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464" y="274639"/>
            <a:ext cx="3881887" cy="39822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Final</a:t>
            </a:r>
            <a:r>
              <a:rPr sz="20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Input-Output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cnt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66822" y="966158"/>
            <a:ext cx="6840748" cy="556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64544" y="3131389"/>
            <a:ext cx="167352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Output in Dashboard</a:t>
            </a:r>
            <a:endParaRPr lang="en-US" b="1" dirty="0"/>
          </a:p>
        </p:txBody>
      </p:sp>
      <p:cxnSp>
        <p:nvCxnSpPr>
          <p:cNvPr id="7" name="Straight Arrow Connector 6"/>
          <p:cNvCxnSpPr>
            <a:stCxn id="6" idx="3"/>
          </p:cNvCxnSpPr>
          <p:nvPr/>
        </p:nvCxnSpPr>
        <p:spPr>
          <a:xfrm flipV="1">
            <a:off x="1838069" y="3312543"/>
            <a:ext cx="292656" cy="1420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0725" y="1121434"/>
            <a:ext cx="6737229" cy="5234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64544" y="3131389"/>
            <a:ext cx="167352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Output in Dashboard</a:t>
            </a:r>
            <a:endParaRPr lang="en-US" b="1" dirty="0"/>
          </a:p>
        </p:txBody>
      </p:sp>
      <p:cxnSp>
        <p:nvCxnSpPr>
          <p:cNvPr id="5" name="Straight Arrow Connector 4"/>
          <p:cNvCxnSpPr>
            <a:stCxn id="4" idx="3"/>
          </p:cNvCxnSpPr>
          <p:nvPr/>
        </p:nvCxnSpPr>
        <p:spPr>
          <a:xfrm flipV="1">
            <a:off x="1838069" y="3312543"/>
            <a:ext cx="292656" cy="1420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115464" y="274639"/>
            <a:ext cx="3881887" cy="3982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Input-Output cnt…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25283" y="1052424"/>
            <a:ext cx="6961517" cy="5073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64544" y="3131389"/>
            <a:ext cx="167352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Output in Dashboard</a:t>
            </a:r>
            <a:endParaRPr lang="en-US" b="1" dirty="0"/>
          </a:p>
        </p:txBody>
      </p:sp>
      <p:cxnSp>
        <p:nvCxnSpPr>
          <p:cNvPr id="8" name="Straight Arrow Connector 7"/>
          <p:cNvCxnSpPr>
            <a:stCxn id="7" idx="3"/>
          </p:cNvCxnSpPr>
          <p:nvPr/>
        </p:nvCxnSpPr>
        <p:spPr>
          <a:xfrm flipV="1">
            <a:off x="1838069" y="3312543"/>
            <a:ext cx="292656" cy="1420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5115464" y="274639"/>
            <a:ext cx="3881887" cy="3982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Input-Output cnt…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5661" y="1535502"/>
            <a:ext cx="8781690" cy="5072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751827" y="1061049"/>
            <a:ext cx="312276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Sample Output in Excel sheet</a:t>
            </a:r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15464" y="274639"/>
            <a:ext cx="3881887" cy="39822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Final</a:t>
            </a:r>
            <a:r>
              <a:rPr sz="20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Input-Output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cnt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8. Project ESG (Environment Sustainable Growth Factor)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9208"/>
            <a:ext cx="8393502" cy="4525963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 smtClean="0"/>
              <a:t>Project ESG (Environment Sustainable Growth Factor)</a:t>
            </a:r>
            <a:r>
              <a:rPr lang="en-US" dirty="0" smtClean="0"/>
              <a:t> aims to revolutionize the software quality assurance process by integrating </a:t>
            </a:r>
            <a:r>
              <a:rPr lang="en-US" b="1" dirty="0" smtClean="0"/>
              <a:t>AI-driven automation</a:t>
            </a:r>
            <a:r>
              <a:rPr lang="en-US" dirty="0" smtClean="0"/>
              <a:t> with </a:t>
            </a:r>
            <a:r>
              <a:rPr lang="en-US" b="1" dirty="0" smtClean="0"/>
              <a:t>sustainable digital development practices</a:t>
            </a:r>
            <a:r>
              <a:rPr lang="en-US" dirty="0" smtClean="0"/>
              <a:t>. The project addresses the growing industry demand for faster, more reliable, and environmentally conscious testing solutions.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By automating the generation, classification, and validation of test cases from natural language requirements, Project ESG significantly </a:t>
            </a:r>
            <a:r>
              <a:rPr lang="en-US" b="1" dirty="0" smtClean="0"/>
              <a:t>reduces manual effort</a:t>
            </a:r>
            <a:r>
              <a:rPr lang="en-US" dirty="0" smtClean="0"/>
              <a:t>, </a:t>
            </a:r>
            <a:r>
              <a:rPr lang="en-US" b="1" dirty="0" smtClean="0"/>
              <a:t>minimizes testing cycle time</a:t>
            </a:r>
            <a:r>
              <a:rPr lang="en-US" dirty="0" smtClean="0"/>
              <a:t>, and </a:t>
            </a:r>
            <a:r>
              <a:rPr lang="en-US" b="1" dirty="0" smtClean="0"/>
              <a:t>optimizes computational resource usage</a:t>
            </a:r>
            <a:r>
              <a:rPr lang="en-US" dirty="0" smtClean="0"/>
              <a:t>. This not only improves organizational efficiency and product reliability but also aligns with ESG goals by promoting </a:t>
            </a:r>
            <a:r>
              <a:rPr lang="en-US" b="1" dirty="0" smtClean="0"/>
              <a:t>green software engineering practices</a:t>
            </a:r>
            <a:r>
              <a:rPr lang="en-US" dirty="0" smtClean="0"/>
              <a:t>—lowering energy consumption, eliminating redundancy, and enhancing traceability and governance in QA workflows.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Ultimately, the project supports businesses in </a:t>
            </a:r>
            <a:r>
              <a:rPr lang="en-US" b="1" dirty="0" smtClean="0"/>
              <a:t>achieving sustainable growth</a:t>
            </a:r>
            <a:r>
              <a:rPr lang="en-US" dirty="0" smtClean="0"/>
              <a:t>, </a:t>
            </a:r>
            <a:r>
              <a:rPr lang="en-US" b="1" dirty="0" smtClean="0"/>
              <a:t>maintaining regulatory and quality compliance</a:t>
            </a:r>
            <a:r>
              <a:rPr lang="en-US" dirty="0" smtClean="0"/>
              <a:t>, and </a:t>
            </a:r>
            <a:r>
              <a:rPr lang="en-US" b="1" dirty="0" smtClean="0"/>
              <a:t>accelerating digital transformation</a:t>
            </a:r>
            <a:r>
              <a:rPr lang="en-US" dirty="0" smtClean="0"/>
              <a:t> while remaining environmentally responsible.</a:t>
            </a:r>
          </a:p>
          <a:p>
            <a:pPr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9. Overall Learning and Way Forward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21" y="2154041"/>
            <a:ext cx="8410755" cy="4525963"/>
          </a:xfrm>
        </p:spPr>
        <p:txBody>
          <a:bodyPr>
            <a:normAutofit fontScale="55000" lnSpcReduction="20000"/>
          </a:bodyPr>
          <a:lstStyle/>
          <a:p>
            <a:pPr algn="just">
              <a:buNone/>
            </a:pPr>
            <a:r>
              <a:rPr lang="en-US" b="1" dirty="0" smtClean="0"/>
              <a:t>Understanding AI in QA Automation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/>
              <a:t>Learned how </a:t>
            </a:r>
            <a:r>
              <a:rPr lang="en-US" b="1" dirty="0" smtClean="0"/>
              <a:t>Natural Language Processing (NLP)</a:t>
            </a:r>
            <a:r>
              <a:rPr lang="en-US" dirty="0" smtClean="0"/>
              <a:t> can transform unstructured requirements into structured test cases.</a:t>
            </a:r>
          </a:p>
          <a:p>
            <a:pPr lvl="1" algn="just">
              <a:buNone/>
            </a:pPr>
            <a:r>
              <a:rPr lang="en-US" dirty="0" smtClean="0"/>
              <a:t>Gained insight into </a:t>
            </a:r>
            <a:r>
              <a:rPr lang="en-US" b="1" dirty="0" smtClean="0"/>
              <a:t>prompt engineering</a:t>
            </a:r>
            <a:r>
              <a:rPr lang="en-US" dirty="0" smtClean="0"/>
              <a:t> and context-based response generation using </a:t>
            </a:r>
            <a:r>
              <a:rPr lang="en-US" b="1" dirty="0" err="1" smtClean="0"/>
              <a:t>OpenAI</a:t>
            </a:r>
            <a:r>
              <a:rPr lang="en-US" b="1" dirty="0" smtClean="0"/>
              <a:t>/Hugging Face</a:t>
            </a:r>
            <a:r>
              <a:rPr lang="en-US" dirty="0" smtClean="0"/>
              <a:t> models.</a:t>
            </a:r>
          </a:p>
          <a:p>
            <a:pPr algn="just">
              <a:buNone/>
            </a:pPr>
            <a:r>
              <a:rPr lang="en-US" b="1" dirty="0" smtClean="0"/>
              <a:t>Practical Exposure to Software Engineering Practices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/>
              <a:t>Implemented an </a:t>
            </a:r>
            <a:r>
              <a:rPr lang="en-US" b="1" dirty="0" smtClean="0"/>
              <a:t>end-to-end software pipeline</a:t>
            </a:r>
            <a:r>
              <a:rPr lang="en-US" dirty="0" smtClean="0"/>
              <a:t> involving data ingestion, AI processing, and visualization.</a:t>
            </a:r>
          </a:p>
          <a:p>
            <a:pPr lvl="1" algn="just">
              <a:buNone/>
            </a:pPr>
            <a:r>
              <a:rPr lang="en-US" dirty="0" smtClean="0"/>
              <a:t>Applied </a:t>
            </a:r>
            <a:r>
              <a:rPr lang="en-US" b="1" dirty="0" smtClean="0"/>
              <a:t>modular design principles</a:t>
            </a:r>
            <a:r>
              <a:rPr lang="en-US" dirty="0" smtClean="0"/>
              <a:t> — separating UI, logic, and visualization layers.</a:t>
            </a:r>
          </a:p>
          <a:p>
            <a:pPr algn="just">
              <a:buNone/>
            </a:pPr>
            <a:r>
              <a:rPr lang="en-US" b="1" dirty="0" smtClean="0"/>
              <a:t>Visualization and Analytics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/>
              <a:t>Learned to interpret QA coverage through </a:t>
            </a:r>
            <a:r>
              <a:rPr lang="en-US" b="1" dirty="0" err="1" smtClean="0"/>
              <a:t>heatmaps</a:t>
            </a:r>
            <a:r>
              <a:rPr lang="en-US" b="1" dirty="0" smtClean="0"/>
              <a:t>, metrics summaries, and dashboards</a:t>
            </a:r>
            <a:r>
              <a:rPr lang="en-US" dirty="0" smtClean="0"/>
              <a:t>.</a:t>
            </a:r>
          </a:p>
          <a:p>
            <a:pPr lvl="1" algn="just">
              <a:buNone/>
            </a:pPr>
            <a:r>
              <a:rPr lang="en-US" dirty="0" smtClean="0"/>
              <a:t>Used tools like </a:t>
            </a:r>
            <a:r>
              <a:rPr lang="en-US" b="1" dirty="0" err="1" smtClean="0"/>
              <a:t>Matplotlib</a:t>
            </a:r>
            <a:r>
              <a:rPr lang="en-US" b="1" dirty="0" smtClean="0"/>
              <a:t> and </a:t>
            </a:r>
            <a:r>
              <a:rPr lang="en-US" b="1" dirty="0" err="1" smtClean="0"/>
              <a:t>Seaborn</a:t>
            </a:r>
            <a:r>
              <a:rPr lang="en-US" dirty="0" smtClean="0"/>
              <a:t> to convey insights effectively.</a:t>
            </a:r>
          </a:p>
          <a:p>
            <a:pPr algn="just">
              <a:buNone/>
            </a:pPr>
            <a:r>
              <a:rPr lang="en-US" b="1" dirty="0" smtClean="0"/>
              <a:t>Automation and Efficiency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/>
              <a:t>Achieved automation of repetitive QA tasks such as test case writing and requirement validation.</a:t>
            </a:r>
          </a:p>
          <a:p>
            <a:pPr lvl="1" algn="just">
              <a:buNone/>
            </a:pPr>
            <a:r>
              <a:rPr lang="en-US" dirty="0" smtClean="0"/>
              <a:t>Improved understanding of how AI can reduce </a:t>
            </a:r>
            <a:r>
              <a:rPr lang="en-US" b="1" dirty="0" smtClean="0"/>
              <a:t>manual testing effort</a:t>
            </a:r>
            <a:r>
              <a:rPr lang="en-US" dirty="0" smtClean="0"/>
              <a:t>, leading to time and cost savings.</a:t>
            </a:r>
          </a:p>
          <a:p>
            <a:pPr algn="just">
              <a:buNone/>
            </a:pPr>
            <a:r>
              <a:rPr lang="en-US" b="1" dirty="0" smtClean="0"/>
              <a:t>Technical Skill Development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/>
              <a:t>Strengthened skills in </a:t>
            </a:r>
            <a:r>
              <a:rPr lang="en-US" b="1" dirty="0" smtClean="0"/>
              <a:t>Python, </a:t>
            </a:r>
            <a:r>
              <a:rPr lang="en-US" b="1" dirty="0" err="1" smtClean="0"/>
              <a:t>Streamlit</a:t>
            </a:r>
            <a:r>
              <a:rPr lang="en-US" b="1" dirty="0" smtClean="0"/>
              <a:t>, Pandas, NLP frameworks</a:t>
            </a:r>
            <a:r>
              <a:rPr lang="en-US" dirty="0" smtClean="0"/>
              <a:t>, and </a:t>
            </a:r>
            <a:r>
              <a:rPr lang="en-US" b="1" dirty="0" smtClean="0"/>
              <a:t>data visualization</a:t>
            </a:r>
            <a:r>
              <a:rPr lang="en-US" dirty="0" smtClean="0"/>
              <a:t>.</a:t>
            </a:r>
          </a:p>
          <a:p>
            <a:pPr lvl="1" algn="just">
              <a:buNone/>
            </a:pPr>
            <a:r>
              <a:rPr lang="en-US" dirty="0" smtClean="0"/>
              <a:t>Improved ability to integrate multiple AI and data tools into a unified product.</a:t>
            </a:r>
          </a:p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704006" y="1571612"/>
            <a:ext cx="197217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Key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6543" y="274638"/>
            <a:ext cx="4005531" cy="37234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Overall Learning and Way </a:t>
            </a:r>
            <a:r>
              <a:rPr sz="2000" b="1" smtClean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cnt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104842"/>
            <a:ext cx="8384875" cy="4146401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Integration with Industry QA Tools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Connect with </a:t>
            </a:r>
            <a:r>
              <a:rPr lang="en-US" b="1" dirty="0" smtClean="0"/>
              <a:t>JIRA, </a:t>
            </a:r>
            <a:r>
              <a:rPr lang="en-US" b="1" dirty="0" err="1" smtClean="0"/>
              <a:t>TestRail</a:t>
            </a:r>
            <a:r>
              <a:rPr lang="en-US" b="1" dirty="0" smtClean="0"/>
              <a:t>, or Azure </a:t>
            </a:r>
            <a:r>
              <a:rPr lang="en-US" b="1" dirty="0" err="1" smtClean="0"/>
              <a:t>DevOps</a:t>
            </a:r>
            <a:r>
              <a:rPr lang="en-US" dirty="0" smtClean="0"/>
              <a:t> for seamless requirement and test case synchronization.</a:t>
            </a:r>
          </a:p>
          <a:p>
            <a:pPr>
              <a:buNone/>
            </a:pPr>
            <a:r>
              <a:rPr lang="en-US" b="1" dirty="0" smtClean="0"/>
              <a:t>Enhanced Intelligence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Incorporate </a:t>
            </a:r>
            <a:r>
              <a:rPr lang="en-US" b="1" dirty="0" smtClean="0"/>
              <a:t>LLM fine-tuning</a:t>
            </a:r>
            <a:r>
              <a:rPr lang="en-US" dirty="0" smtClean="0"/>
              <a:t> for domain-specific vocabulary (e.g., healthcare, finance, education).</a:t>
            </a:r>
          </a:p>
          <a:p>
            <a:pPr lvl="1">
              <a:buNone/>
            </a:pPr>
            <a:r>
              <a:rPr lang="en-US" dirty="0" smtClean="0"/>
              <a:t>Add </a:t>
            </a:r>
            <a:r>
              <a:rPr lang="en-US" b="1" dirty="0" smtClean="0"/>
              <a:t>semantic similarity matching</a:t>
            </a:r>
            <a:r>
              <a:rPr lang="en-US" dirty="0" smtClean="0"/>
              <a:t> to link requirements with corresponding test cases automatically.</a:t>
            </a:r>
          </a:p>
          <a:p>
            <a:pPr>
              <a:buNone/>
            </a:pPr>
            <a:r>
              <a:rPr lang="en-US" b="1" dirty="0" smtClean="0"/>
              <a:t>Voice and Multilingual Input Support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Extend to accept </a:t>
            </a:r>
            <a:r>
              <a:rPr lang="en-US" b="1" dirty="0" smtClean="0"/>
              <a:t>voice commands</a:t>
            </a:r>
            <a:r>
              <a:rPr lang="en-US" dirty="0" smtClean="0"/>
              <a:t> and </a:t>
            </a:r>
            <a:r>
              <a:rPr lang="en-US" b="1" dirty="0" smtClean="0"/>
              <a:t>multi-language requirement inputs</a:t>
            </a:r>
            <a:r>
              <a:rPr lang="en-US" dirty="0" smtClean="0"/>
              <a:t> (Kannada, Hindi, etc.) using speech recognition and translation APIs.</a:t>
            </a:r>
          </a:p>
          <a:p>
            <a:pPr>
              <a:buNone/>
            </a:pPr>
            <a:r>
              <a:rPr lang="en-US" b="1" dirty="0" smtClean="0"/>
              <a:t>Continuous Learning Framework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Enable system to </a:t>
            </a:r>
            <a:r>
              <a:rPr lang="en-US" b="1" dirty="0" smtClean="0"/>
              <a:t>learn from user feedback</a:t>
            </a:r>
            <a:r>
              <a:rPr lang="en-US" dirty="0" smtClean="0"/>
              <a:t>, improving test case accuracy over time.</a:t>
            </a:r>
          </a:p>
          <a:p>
            <a:pPr>
              <a:buNone/>
            </a:pPr>
            <a:r>
              <a:rPr lang="en-US" b="1" dirty="0" smtClean="0"/>
              <a:t>Scalable Cloud Deployment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Deploy on cloud (e.g., AWS, Azure, </a:t>
            </a:r>
            <a:r>
              <a:rPr lang="en-US" dirty="0" err="1" smtClean="0"/>
              <a:t>Streamlit</a:t>
            </a:r>
            <a:r>
              <a:rPr lang="en-US" dirty="0" smtClean="0"/>
              <a:t> Cloud) for real-time accessibility and team collaboration.</a:t>
            </a:r>
          </a:p>
          <a:p>
            <a:pPr>
              <a:buNone/>
            </a:pPr>
            <a:r>
              <a:rPr lang="en-US" b="1" dirty="0" smtClean="0"/>
              <a:t>AI Governance &amp; Ethical Practices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Ensure transparency, fairness, and data security in AI decision-making — aligning with ESG goals.</a:t>
            </a:r>
          </a:p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704006" y="1118573"/>
            <a:ext cx="197217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Way Forward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842"/>
            <a:ext cx="4123427" cy="323059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b="1"/>
              <a:t>Learning </a:t>
            </a:r>
            <a:r>
              <a:rPr b="1" smtClean="0"/>
              <a:t>Outcomes</a:t>
            </a:r>
            <a:endParaRPr b="1"/>
          </a:p>
          <a:p>
            <a:pPr lvl="1">
              <a:buNone/>
            </a:pPr>
            <a:r>
              <a:t>• </a:t>
            </a:r>
            <a:r>
              <a:rPr sz="2400"/>
              <a:t>AI-driven QA automation insights.</a:t>
            </a:r>
          </a:p>
          <a:p>
            <a:pPr lvl="1">
              <a:buNone/>
            </a:pPr>
            <a:r>
              <a:rPr sz="2400"/>
              <a:t>• NLP-based requirement understanding.</a:t>
            </a:r>
          </a:p>
          <a:p>
            <a:pPr lvl="1">
              <a:buNone/>
            </a:pPr>
            <a:r>
              <a:rPr sz="2400"/>
              <a:t>• Streamlit dashboard design.</a:t>
            </a:r>
          </a:p>
          <a:p>
            <a:endParaRPr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0627" y="1746841"/>
            <a:ext cx="4416724" cy="32305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Future Work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Integration with JIRA/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TestRail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Multi-language and voice-based input.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Real-time traceability enhancements.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836543" y="274638"/>
            <a:ext cx="4005531" cy="3723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Overall Learning and Way Forward cnt…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Downloads\project_gantt_sep24_oct15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28136" y="1427672"/>
            <a:ext cx="7599872" cy="4826479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4453" y="274638"/>
            <a:ext cx="8514271" cy="77778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10. Project Time Spent (Phase-wise Breakdown)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86136" y="2473569"/>
            <a:ext cx="74187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h-&gt; Hours</a:t>
            </a:r>
            <a:endParaRPr lang="en-US" sz="1000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5627</TotalTime>
  <Words>2535</Words>
  <Application>Microsoft Macintosh PowerPoint</Application>
  <PresentationFormat>On-screen Show (4:3)</PresentationFormat>
  <Paragraphs>298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Slide 1</vt:lpstr>
      <vt:lpstr>Slide 2</vt:lpstr>
      <vt:lpstr>1. Project Business Statement</vt:lpstr>
      <vt:lpstr>2. Motivation / Business Need</vt:lpstr>
      <vt:lpstr>3. High-Level Approach</vt:lpstr>
      <vt:lpstr>High-Level Approach cont..</vt:lpstr>
      <vt:lpstr>4. Technical Approach – Architecture Flow</vt:lpstr>
      <vt:lpstr>Technical Approach – Architecture Flow cnt…</vt:lpstr>
      <vt:lpstr>Technical Approach – Architecture Flow cnt…</vt:lpstr>
      <vt:lpstr>Technical Approach – Architecture Flow cnt…</vt:lpstr>
      <vt:lpstr>5.Technical Approach – Tech Stack &amp; Rationale</vt:lpstr>
      <vt:lpstr>Technical Approach – Tech Stack &amp; Rationale</vt:lpstr>
      <vt:lpstr>6. High-Level Code Explanation</vt:lpstr>
      <vt:lpstr>High-Level Code Explanation cont…</vt:lpstr>
      <vt:lpstr>7. Final Input-Output</vt:lpstr>
      <vt:lpstr>Final Input-Output cnt…</vt:lpstr>
      <vt:lpstr>Slide 17</vt:lpstr>
      <vt:lpstr>Slide 18</vt:lpstr>
      <vt:lpstr>Final Input-Output cnt…</vt:lpstr>
      <vt:lpstr>8. Project ESG (Environment Sustainable Growth Factor)</vt:lpstr>
      <vt:lpstr>9. Overall Learning and Way Forward</vt:lpstr>
      <vt:lpstr>Overall Learning and Way Forward cnt…</vt:lpstr>
      <vt:lpstr>Slide 23</vt:lpstr>
      <vt:lpstr>10. Project Time Spent (Phase-wise Breakdown)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Business Statement</dc:title>
  <dc:subject/>
  <dc:creator/>
  <cp:keywords/>
  <dc:description>generated using python-pptx</dc:description>
  <cp:lastModifiedBy>Admin</cp:lastModifiedBy>
  <cp:revision>95</cp:revision>
  <dcterms:created xsi:type="dcterms:W3CDTF">2013-01-27T09:14:16Z</dcterms:created>
  <dcterms:modified xsi:type="dcterms:W3CDTF">2025-10-15T03:57:03Z</dcterms:modified>
  <cp:category/>
</cp:coreProperties>
</file>